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903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8617403" y="-722726"/>
            <a:ext cx="2206271" cy="11256201"/>
          </a:xfrm>
          <a:custGeom>
            <a:avLst/>
            <a:gdLst/>
            <a:ahLst/>
            <a:cxnLst/>
            <a:rect l="l" t="t" r="r" b="b"/>
            <a:pathLst>
              <a:path w="2206271" h="11256201">
                <a:moveTo>
                  <a:pt x="2206271" y="0"/>
                </a:moveTo>
                <a:lnTo>
                  <a:pt x="0" y="0"/>
                </a:lnTo>
                <a:lnTo>
                  <a:pt x="0" y="11256202"/>
                </a:lnTo>
                <a:lnTo>
                  <a:pt x="2206271" y="11256202"/>
                </a:lnTo>
                <a:lnTo>
                  <a:pt x="22062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252478" b="-90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" name="Freeform 3"/>
          <p:cNvSpPr/>
          <p:nvPr/>
        </p:nvSpPr>
        <p:spPr>
          <a:xfrm rot="5400000">
            <a:off x="8617403" y="-156196"/>
            <a:ext cx="2206271" cy="11256201"/>
          </a:xfrm>
          <a:custGeom>
            <a:avLst/>
            <a:gdLst/>
            <a:ahLst/>
            <a:cxnLst/>
            <a:rect l="l" t="t" r="r" b="b"/>
            <a:pathLst>
              <a:path w="2206271" h="11256201">
                <a:moveTo>
                  <a:pt x="0" y="0"/>
                </a:moveTo>
                <a:lnTo>
                  <a:pt x="2206271" y="0"/>
                </a:lnTo>
                <a:lnTo>
                  <a:pt x="2206271" y="11256201"/>
                </a:lnTo>
                <a:lnTo>
                  <a:pt x="0" y="11256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252478" b="-90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4" name="Freeform 4"/>
          <p:cNvSpPr/>
          <p:nvPr/>
        </p:nvSpPr>
        <p:spPr>
          <a:xfrm>
            <a:off x="8181428" y="5862429"/>
            <a:ext cx="3006571" cy="2876557"/>
          </a:xfrm>
          <a:custGeom>
            <a:avLst/>
            <a:gdLst/>
            <a:ahLst/>
            <a:cxnLst/>
            <a:rect l="l" t="t" r="r" b="b"/>
            <a:pathLst>
              <a:path w="3006571" h="2876557">
                <a:moveTo>
                  <a:pt x="0" y="0"/>
                </a:moveTo>
                <a:lnTo>
                  <a:pt x="3006571" y="0"/>
                </a:lnTo>
                <a:lnTo>
                  <a:pt x="3006571" y="2876558"/>
                </a:lnTo>
                <a:lnTo>
                  <a:pt x="0" y="2876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5" name="Freeform 5"/>
          <p:cNvSpPr/>
          <p:nvPr/>
        </p:nvSpPr>
        <p:spPr>
          <a:xfrm>
            <a:off x="0" y="9229814"/>
            <a:ext cx="18288000" cy="1057186"/>
          </a:xfrm>
          <a:custGeom>
            <a:avLst/>
            <a:gdLst/>
            <a:ahLst/>
            <a:cxnLst/>
            <a:rect l="l" t="t" r="r" b="b"/>
            <a:pathLst>
              <a:path w="18900836" h="1057186">
                <a:moveTo>
                  <a:pt x="0" y="0"/>
                </a:moveTo>
                <a:lnTo>
                  <a:pt x="18900836" y="0"/>
                </a:lnTo>
                <a:lnTo>
                  <a:pt x="18900836" y="1057186"/>
                </a:lnTo>
                <a:lnTo>
                  <a:pt x="0" y="1057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47" t="-100179" r="-24224" b="-197305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6" name="Freeform 6"/>
          <p:cNvSpPr/>
          <p:nvPr/>
        </p:nvSpPr>
        <p:spPr>
          <a:xfrm>
            <a:off x="12135505" y="668430"/>
            <a:ext cx="5132071" cy="2270553"/>
          </a:xfrm>
          <a:custGeom>
            <a:avLst/>
            <a:gdLst/>
            <a:ahLst/>
            <a:cxnLst/>
            <a:rect l="l" t="t" r="r" b="b"/>
            <a:pathLst>
              <a:path w="5132071" h="2270553">
                <a:moveTo>
                  <a:pt x="0" y="0"/>
                </a:moveTo>
                <a:lnTo>
                  <a:pt x="5132071" y="0"/>
                </a:lnTo>
                <a:lnTo>
                  <a:pt x="5132071" y="2270553"/>
                </a:lnTo>
                <a:lnTo>
                  <a:pt x="0" y="227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7" name="Freeform 7"/>
          <p:cNvSpPr/>
          <p:nvPr/>
        </p:nvSpPr>
        <p:spPr>
          <a:xfrm>
            <a:off x="2579591" y="668430"/>
            <a:ext cx="3025692" cy="1832705"/>
          </a:xfrm>
          <a:custGeom>
            <a:avLst/>
            <a:gdLst/>
            <a:ahLst/>
            <a:cxnLst/>
            <a:rect l="l" t="t" r="r" b="b"/>
            <a:pathLst>
              <a:path w="3025692" h="1832705">
                <a:moveTo>
                  <a:pt x="0" y="0"/>
                </a:moveTo>
                <a:lnTo>
                  <a:pt x="3025693" y="0"/>
                </a:lnTo>
                <a:lnTo>
                  <a:pt x="3025693" y="1832705"/>
                </a:lnTo>
                <a:lnTo>
                  <a:pt x="0" y="183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2" name="TextBox 12"/>
          <p:cNvSpPr txBox="1"/>
          <p:nvPr/>
        </p:nvSpPr>
        <p:spPr>
          <a:xfrm rot="13500000">
            <a:off x="-1679383" y="8898583"/>
            <a:ext cx="6707634" cy="131512"/>
          </a:xfrm>
          <a:prstGeom prst="rect">
            <a:avLst/>
          </a:prstGeom>
        </p:spPr>
        <p:txBody>
          <a:bodyPr lIns="53707" tIns="53707" rIns="53707" bIns="53707" rtlCol="0" anchor="ctr"/>
          <a:lstStyle/>
          <a:p>
            <a:pPr algn="ctr">
              <a:lnSpc>
                <a:spcPts val="2486"/>
              </a:lnSpc>
            </a:pPr>
            <a:endParaRPr/>
          </a:p>
        </p:txBody>
      </p:sp>
      <p:grpSp>
        <p:nvGrpSpPr>
          <p:cNvPr id="13" name="Group 13"/>
          <p:cNvGrpSpPr/>
          <p:nvPr/>
        </p:nvGrpSpPr>
        <p:grpSpPr>
          <a:xfrm>
            <a:off x="7103722" y="3215779"/>
            <a:ext cx="4836800" cy="1152990"/>
            <a:chOff x="0" y="0"/>
            <a:chExt cx="1204928" cy="2872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4928" cy="287229"/>
            </a:xfrm>
            <a:custGeom>
              <a:avLst/>
              <a:gdLst/>
              <a:ahLst/>
              <a:cxnLst/>
              <a:rect l="l" t="t" r="r" b="b"/>
              <a:pathLst>
                <a:path w="1204928" h="287229">
                  <a:moveTo>
                    <a:pt x="0" y="0"/>
                  </a:moveTo>
                  <a:lnTo>
                    <a:pt x="1204928" y="0"/>
                  </a:lnTo>
                  <a:lnTo>
                    <a:pt x="1204928" y="287229"/>
                  </a:lnTo>
                  <a:lnTo>
                    <a:pt x="0" y="2872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04928" cy="277704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696460" y="3493275"/>
            <a:ext cx="10162540" cy="2419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49"/>
              </a:lnSpc>
            </a:pPr>
            <a:r>
              <a:rPr lang="en-US" sz="5457" b="1">
                <a:solidFill>
                  <a:srgbClr val="6CCDDC"/>
                </a:solidFill>
                <a:latin typeface="Inter Bold"/>
                <a:ea typeface="Inter Bold"/>
                <a:cs typeface="Inter Bold"/>
                <a:sym typeface="Inter Bold"/>
              </a:rPr>
              <a:t>NorthStar</a:t>
            </a:r>
          </a:p>
          <a:p>
            <a:pPr algn="ctr">
              <a:lnSpc>
                <a:spcPts val="6549"/>
              </a:lnSpc>
            </a:pPr>
            <a:r>
              <a:rPr lang="en-US" sz="545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Quality &amp; Excellence Standard</a:t>
            </a:r>
          </a:p>
          <a:p>
            <a:pPr algn="ctr" rtl="1">
              <a:lnSpc>
                <a:spcPts val="6041"/>
              </a:lnSpc>
            </a:pPr>
            <a:r>
              <a:rPr lang="he-IL" sz="503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  <a:rtl/>
              </a:rPr>
              <a:t>אות הצפון לאיכות ומצוינות ארגונית</a:t>
            </a: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637A913F-A862-2CE3-B2C0-07F5FA221D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117" b="14420"/>
          <a:stretch>
            <a:fillRect/>
          </a:stretch>
        </p:blipFill>
        <p:spPr>
          <a:xfrm>
            <a:off x="-1" y="876301"/>
            <a:ext cx="4858437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80909" y="1682484"/>
            <a:ext cx="12932959" cy="6268317"/>
            <a:chOff x="0" y="0"/>
            <a:chExt cx="2601047" cy="1260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1047" cy="1260669"/>
            </a:xfrm>
            <a:custGeom>
              <a:avLst/>
              <a:gdLst/>
              <a:ahLst/>
              <a:cxnLst/>
              <a:rect l="l" t="t" r="r" b="b"/>
              <a:pathLst>
                <a:path w="2601047" h="1260669">
                  <a:moveTo>
                    <a:pt x="0" y="0"/>
                  </a:moveTo>
                  <a:lnTo>
                    <a:pt x="2601047" y="0"/>
                  </a:lnTo>
                  <a:lnTo>
                    <a:pt x="2601047" y="1260669"/>
                  </a:lnTo>
                  <a:lnTo>
                    <a:pt x="0" y="1260669"/>
                  </a:lnTo>
                  <a:close/>
                </a:path>
              </a:pathLst>
            </a:custGeom>
            <a:ln w="38100" cap="sq">
              <a:gradFill>
                <a:gsLst>
                  <a:gs pos="0">
                    <a:srgbClr val="C39348">
                      <a:alpha val="100000"/>
                    </a:srgbClr>
                  </a:gs>
                  <a:gs pos="50000">
                    <a:srgbClr val="FFDAA0">
                      <a:alpha val="100000"/>
                    </a:srgbClr>
                  </a:gs>
                  <a:gs pos="100000">
                    <a:srgbClr val="C3934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01047" cy="128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31911" y="2013736"/>
            <a:ext cx="11495898" cy="548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5326"/>
              </a:lnSpc>
            </a:pPr>
            <a:r>
              <a:rPr lang="he-IL" sz="4097" b="1">
                <a:solidFill>
                  <a:srgbClr val="08213A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מחוז הצפון פועל במרחב רב־תרבותי, מגוון ואתגרי, המחייב מנהיגות חינוכית אמיצה, תרבות ארגונית מיטיבה ויכולת הסתגלות למציאות משתנה.</a:t>
            </a:r>
          </a:p>
          <a:p>
            <a:pPr algn="just" rtl="1">
              <a:lnSpc>
                <a:spcPts val="5326"/>
              </a:lnSpc>
            </a:pPr>
            <a:r>
              <a:rPr lang="he-IL" sz="4097" b="1">
                <a:solidFill>
                  <a:srgbClr val="08213A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מתוך תפיסה מערכתית הרואה במוסד החינוכי ארגון לומד, משפיע ומתחדש – מבקש המחוז להוביל מהלך אסטרטגי כולל ליצירת תו תקן מחוזי למצוינות חינוכית.</a:t>
            </a:r>
          </a:p>
          <a:p>
            <a:pPr algn="just" rtl="1">
              <a:lnSpc>
                <a:spcPts val="5326"/>
              </a:lnSpc>
            </a:pPr>
            <a:r>
              <a:rPr lang="he-IL" sz="4097" b="1">
                <a:solidFill>
                  <a:srgbClr val="08213A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המהלך נשען על עקרונות המצוינות הארגונית אך מותאם לעולם החינוך הציבורי בישראל ולמאפייני מחוז צפון.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88A57AD3-6C72-2487-0D5A-D91CC1B7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17" b="14420"/>
          <a:stretch>
            <a:fillRect/>
          </a:stretch>
        </p:blipFill>
        <p:spPr>
          <a:xfrm>
            <a:off x="-1" y="-1"/>
            <a:ext cx="5310843" cy="10287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2442" y="3781357"/>
            <a:ext cx="14936858" cy="5033813"/>
            <a:chOff x="0" y="0"/>
            <a:chExt cx="3004066" cy="1012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04066" cy="1012389"/>
            </a:xfrm>
            <a:custGeom>
              <a:avLst/>
              <a:gdLst/>
              <a:ahLst/>
              <a:cxnLst/>
              <a:rect l="l" t="t" r="r" b="b"/>
              <a:pathLst>
                <a:path w="3004066" h="1012389">
                  <a:moveTo>
                    <a:pt x="0" y="0"/>
                  </a:moveTo>
                  <a:lnTo>
                    <a:pt x="3004066" y="0"/>
                  </a:lnTo>
                  <a:lnTo>
                    <a:pt x="3004066" y="1012389"/>
                  </a:lnTo>
                  <a:lnTo>
                    <a:pt x="0" y="1012389"/>
                  </a:lnTo>
                  <a:close/>
                </a:path>
              </a:pathLst>
            </a:custGeom>
            <a:ln w="38100" cap="sq">
              <a:gradFill>
                <a:gsLst>
                  <a:gs pos="0">
                    <a:srgbClr val="C39348">
                      <a:alpha val="100000"/>
                    </a:srgbClr>
                  </a:gs>
                  <a:gs pos="50000">
                    <a:srgbClr val="FFDAA0">
                      <a:alpha val="100000"/>
                    </a:srgbClr>
                  </a:gs>
                  <a:gs pos="100000">
                    <a:srgbClr val="C3934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004066" cy="1040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77633" y="3933482"/>
            <a:ext cx="14053408" cy="4400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יצירת שפה מחוזית אחידה של איכות ומצוינות.</a:t>
            </a:r>
          </a:p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חיזוק תרבות ארגונית מבוססת אמון, אחריותיות ושיפור מתמיד.</a:t>
            </a:r>
          </a:p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עידוד יזמות, חדשנות וחשיבת עתיד פדגוגית וניהולית ארגונית.</a:t>
            </a:r>
          </a:p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חיזוק חוסן ארגוני – אנטי שבירות והתמודדות מיטבית עם מציאות משתנה.</a:t>
            </a:r>
          </a:p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פיתוח הנהגה חינוכית משפיעה - הנהלה ומנהיגות הביניים (בעלי תפקידים).</a:t>
            </a:r>
          </a:p>
          <a:p>
            <a:pPr algn="just" rtl="1">
              <a:lnSpc>
                <a:spcPts val="5771"/>
              </a:lnSpc>
              <a:spcBef>
                <a:spcPct val="0"/>
              </a:spcBef>
            </a:pPr>
            <a:r>
              <a:rPr lang="he-IL" sz="41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מיצוב מחוז הצפון כמוביל ארצי בתחום איכות ומצוינות ארגונית מערכתית.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43024" y="2460606"/>
            <a:ext cx="4616276" cy="1320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9627"/>
              </a:lnSpc>
              <a:spcBef>
                <a:spcPct val="0"/>
              </a:spcBef>
            </a:pPr>
            <a:r>
              <a:rPr lang="he-IL" sz="6876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מטרות המהלך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163F4C90-AC6E-C3F0-10E7-C1CAC9FD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17" b="14420"/>
          <a:stretch>
            <a:fillRect/>
          </a:stretch>
        </p:blipFill>
        <p:spPr>
          <a:xfrm rot="5400000">
            <a:off x="2623875" y="-2623874"/>
            <a:ext cx="5600701" cy="10848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5613" y="3777574"/>
            <a:ext cx="9295194" cy="559323"/>
            <a:chOff x="0" y="0"/>
            <a:chExt cx="2315589" cy="139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5589" cy="139337"/>
            </a:xfrm>
            <a:custGeom>
              <a:avLst/>
              <a:gdLst/>
              <a:ahLst/>
              <a:cxnLst/>
              <a:rect l="l" t="t" r="r" b="b"/>
              <a:pathLst>
                <a:path w="2315589" h="139337">
                  <a:moveTo>
                    <a:pt x="0" y="0"/>
                  </a:moveTo>
                  <a:lnTo>
                    <a:pt x="2315589" y="0"/>
                  </a:lnTo>
                  <a:lnTo>
                    <a:pt x="2315589" y="139337"/>
                  </a:lnTo>
                  <a:lnTo>
                    <a:pt x="0" y="139337"/>
                  </a:lnTo>
                  <a:close/>
                </a:path>
              </a:pathLst>
            </a:custGeom>
            <a:solidFill>
              <a:srgbClr val="06306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315589" cy="129812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92830" y="3625174"/>
            <a:ext cx="13923702" cy="587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5792"/>
              </a:lnSpc>
              <a:spcBef>
                <a:spcPct val="0"/>
              </a:spcBef>
            </a:pPr>
            <a:r>
              <a:rPr lang="he-IL" sz="413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תו התקן מבוסס על חמישה עקרונות מנחים:</a:t>
            </a:r>
          </a:p>
          <a:p>
            <a:pPr marL="893259" lvl="1" indent="-446630" algn="r" rtl="1">
              <a:lnSpc>
                <a:spcPts val="5792"/>
              </a:lnSpc>
              <a:buFont typeface="Arial"/>
              <a:buChar char="•"/>
            </a:pPr>
            <a:r>
              <a:rPr lang="he-IL" sz="41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הוליסטיות – הסתכלות מערכתית על כלל מרכיבי הארגון.</a:t>
            </a:r>
          </a:p>
          <a:p>
            <a:pPr marL="893259" lvl="1" indent="-446630" algn="r" rtl="1">
              <a:lnSpc>
                <a:spcPts val="5792"/>
              </a:lnSpc>
              <a:buFont typeface="Arial"/>
              <a:buChar char="•"/>
            </a:pPr>
            <a:r>
              <a:rPr lang="he-IL" sz="41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שותפות – שילוב תלמידים, צוותי חינוך, הורים, רשות ושאר בעלי עניין.</a:t>
            </a:r>
          </a:p>
          <a:p>
            <a:pPr marL="893259" lvl="1" indent="-446630" algn="r" rtl="1">
              <a:lnSpc>
                <a:spcPts val="5792"/>
              </a:lnSpc>
              <a:buFont typeface="Arial"/>
              <a:buChar char="•"/>
            </a:pPr>
            <a:r>
              <a:rPr lang="he-IL" sz="41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למידה מתמדת ושיפור מתמיד – תרבות של הערכה, מדידה, משוב והפקת לקחים.</a:t>
            </a:r>
          </a:p>
          <a:p>
            <a:pPr marL="893259" lvl="1" indent="-446630" algn="r" rtl="1">
              <a:lnSpc>
                <a:spcPts val="5792"/>
              </a:lnSpc>
              <a:buFont typeface="Arial"/>
              <a:buChar char="•"/>
            </a:pPr>
            <a:r>
              <a:rPr lang="he-IL" sz="41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חוסן וגמישות – התאמה למציאות המשתנה ומגמות העתיד </a:t>
            </a:r>
          </a:p>
          <a:p>
            <a:pPr marL="893259" lvl="1" indent="-446630" algn="r" rtl="1">
              <a:lnSpc>
                <a:spcPts val="5792"/>
              </a:lnSpc>
              <a:buFont typeface="Arial"/>
              <a:buChar char="•"/>
            </a:pPr>
            <a:r>
              <a:rPr lang="he-IL" sz="41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ייחודיות וזהות – עידוד הצעת ערך חינוכית מובחנת </a:t>
            </a:r>
          </a:p>
          <a:p>
            <a:pPr algn="just" rtl="1">
              <a:lnSpc>
                <a:spcPts val="5512"/>
              </a:lnSpc>
              <a:spcBef>
                <a:spcPct val="0"/>
              </a:spcBef>
            </a:pPr>
            <a:endParaRPr lang="he-IL" sz="413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383210" y="2441846"/>
            <a:ext cx="4733322" cy="1168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6952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he-IL" sz="6952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עקרונות יסוד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5C05DA35-4671-1335-4DC3-96ED36C10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17" b="14420"/>
          <a:stretch>
            <a:fillRect/>
          </a:stretch>
        </p:blipFill>
        <p:spPr>
          <a:xfrm rot="5400000">
            <a:off x="2695271" y="-2695271"/>
            <a:ext cx="5753099" cy="11143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80911" y="1233685"/>
            <a:ext cx="10718495" cy="830564"/>
            <a:chOff x="0" y="0"/>
            <a:chExt cx="2670157" cy="206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0157" cy="206907"/>
            </a:xfrm>
            <a:custGeom>
              <a:avLst/>
              <a:gdLst/>
              <a:ahLst/>
              <a:cxnLst/>
              <a:rect l="l" t="t" r="r" b="b"/>
              <a:pathLst>
                <a:path w="2670157" h="206907">
                  <a:moveTo>
                    <a:pt x="0" y="0"/>
                  </a:moveTo>
                  <a:lnTo>
                    <a:pt x="2670157" y="0"/>
                  </a:lnTo>
                  <a:lnTo>
                    <a:pt x="2670157" y="206907"/>
                  </a:lnTo>
                  <a:lnTo>
                    <a:pt x="0" y="206907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670157" cy="197382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32919" y="1156351"/>
            <a:ext cx="10222161" cy="907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658"/>
              </a:lnSpc>
              <a:spcBef>
                <a:spcPct val="0"/>
              </a:spcBef>
            </a:pPr>
            <a:r>
              <a:rPr lang="he-IL" sz="475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המודל ההוליסטי: חמשת אשכולות המצוינות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90090" y="3260832"/>
            <a:ext cx="605428" cy="36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191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20%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37" y="1662580"/>
            <a:ext cx="7334615" cy="7334615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895517" y="3687496"/>
            <a:ext cx="2012216" cy="0"/>
          </a:xfrm>
          <a:prstGeom prst="line">
            <a:avLst/>
          </a:prstGeom>
          <a:ln w="38100" cap="flat">
            <a:solidFill>
              <a:srgbClr val="B3A4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Box 9"/>
          <p:cNvSpPr txBox="1"/>
          <p:nvPr/>
        </p:nvSpPr>
        <p:spPr>
          <a:xfrm>
            <a:off x="10318758" y="3341965"/>
            <a:ext cx="794277" cy="43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20%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353492" y="3657222"/>
            <a:ext cx="2012216" cy="0"/>
          </a:xfrm>
          <a:prstGeom prst="line">
            <a:avLst/>
          </a:prstGeom>
          <a:ln w="38100" cap="flat">
            <a:solidFill>
              <a:srgbClr val="1046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1" name="AutoShape 11"/>
          <p:cNvSpPr/>
          <p:nvPr/>
        </p:nvSpPr>
        <p:spPr>
          <a:xfrm>
            <a:off x="5353492" y="6228957"/>
            <a:ext cx="2012216" cy="0"/>
          </a:xfrm>
          <a:prstGeom prst="line">
            <a:avLst/>
          </a:prstGeom>
          <a:ln w="38100" cap="flat">
            <a:solidFill>
              <a:srgbClr val="E4CF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2" name="AutoShape 12"/>
          <p:cNvSpPr/>
          <p:nvPr/>
        </p:nvSpPr>
        <p:spPr>
          <a:xfrm>
            <a:off x="10895517" y="6922674"/>
            <a:ext cx="2809646" cy="0"/>
          </a:xfrm>
          <a:prstGeom prst="line">
            <a:avLst/>
          </a:prstGeom>
          <a:ln w="38100" cap="flat">
            <a:solidFill>
              <a:srgbClr val="4200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3" name="AutoShape 13"/>
          <p:cNvSpPr/>
          <p:nvPr/>
        </p:nvSpPr>
        <p:spPr>
          <a:xfrm>
            <a:off x="10895517" y="5348938"/>
            <a:ext cx="2310982" cy="0"/>
          </a:xfrm>
          <a:prstGeom prst="line">
            <a:avLst/>
          </a:prstGeom>
          <a:ln w="38100" cap="flat">
            <a:solidFill>
              <a:srgbClr val="42007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85" y="2527154"/>
            <a:ext cx="5643569" cy="5643569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7395396" y="3638766"/>
            <a:ext cx="3420344" cy="342034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1F5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8004" tIns="38004" rIns="38004" bIns="38004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7502282" y="3726722"/>
            <a:ext cx="3579195" cy="3579195"/>
          </a:xfrm>
          <a:custGeom>
            <a:avLst/>
            <a:gdLst/>
            <a:ahLst/>
            <a:cxnLst/>
            <a:rect l="l" t="t" r="r" b="b"/>
            <a:pathLst>
              <a:path w="3579195" h="3579195">
                <a:moveTo>
                  <a:pt x="0" y="0"/>
                </a:moveTo>
                <a:lnTo>
                  <a:pt x="3579195" y="0"/>
                </a:lnTo>
                <a:lnTo>
                  <a:pt x="3579195" y="3579195"/>
                </a:lnTo>
                <a:lnTo>
                  <a:pt x="0" y="3579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9" name="TextBox 19"/>
          <p:cNvSpPr txBox="1"/>
          <p:nvPr/>
        </p:nvSpPr>
        <p:spPr>
          <a:xfrm>
            <a:off x="10979932" y="5668285"/>
            <a:ext cx="794277" cy="43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16983" y="7340393"/>
            <a:ext cx="794277" cy="43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74529" y="5971913"/>
            <a:ext cx="794277" cy="43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28817" y="3401877"/>
            <a:ext cx="794277" cy="43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sz="22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74982" y="5040061"/>
            <a:ext cx="2571093" cy="38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40"/>
              </a:lnSpc>
            </a:pPr>
            <a:r>
              <a:rPr lang="he-IL" sz="2673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הון אנושי ושותפויות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94567" y="6585138"/>
            <a:ext cx="2571093" cy="38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40"/>
              </a:lnSpc>
            </a:pPr>
            <a:r>
              <a:rPr lang="he-IL" sz="2673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ניהול ותהליכים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87585" y="3260695"/>
            <a:ext cx="3699700" cy="38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40"/>
              </a:lnSpc>
            </a:pPr>
            <a:r>
              <a:rPr lang="he-IL" sz="2673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הנהגה ותרבות מצמיחה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01739" y="5241266"/>
            <a:ext cx="1370006" cy="50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sz="2673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21324" y="6776040"/>
            <a:ext cx="1370006" cy="50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sz="2673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32646" y="3472203"/>
            <a:ext cx="1370006" cy="50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sz="2673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8899" y="3371545"/>
            <a:ext cx="3699700" cy="38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40"/>
              </a:lnSpc>
            </a:pPr>
            <a:r>
              <a:rPr lang="he-IL" sz="2673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זהות, חזון וערך חינוכי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73960" y="3583053"/>
            <a:ext cx="1370006" cy="50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sz="2673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38424" y="5954319"/>
            <a:ext cx="3699700" cy="38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40"/>
              </a:lnSpc>
            </a:pPr>
            <a:r>
              <a:rPr lang="he-IL" sz="2673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תוצאות והשפעה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83485" y="6165827"/>
            <a:ext cx="1370006" cy="50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sz="2673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97368" y="4905272"/>
            <a:ext cx="2885582" cy="73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637"/>
              </a:lnSpc>
            </a:pPr>
            <a:r>
              <a:rPr lang="he-IL" sz="277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הסתכלות מערכתית</a:t>
            </a:r>
          </a:p>
          <a:p>
            <a:pPr algn="ctr" rtl="1">
              <a:lnSpc>
                <a:spcPts val="2637"/>
              </a:lnSpc>
            </a:pPr>
            <a:r>
              <a:rPr lang="he-IL" sz="277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ולמידה מתמדת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25603" y="5507589"/>
            <a:ext cx="1266611" cy="43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2"/>
              </a:lnSpc>
              <a:spcBef>
                <a:spcPct val="0"/>
              </a:spcBef>
            </a:pPr>
            <a:r>
              <a:rPr lang="en-US" sz="2287">
                <a:solidFill>
                  <a:srgbClr val="C1AC6A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</a:t>
            </a:r>
          </a:p>
        </p:txBody>
      </p:sp>
      <p:sp>
        <p:nvSpPr>
          <p:cNvPr id="35" name="Freeform 35"/>
          <p:cNvSpPr/>
          <p:nvPr/>
        </p:nvSpPr>
        <p:spPr>
          <a:xfrm rot="5400000">
            <a:off x="11127235" y="3166073"/>
            <a:ext cx="3733926" cy="10831899"/>
          </a:xfrm>
          <a:custGeom>
            <a:avLst/>
            <a:gdLst/>
            <a:ahLst/>
            <a:cxnLst/>
            <a:rect l="l" t="t" r="r" b="b"/>
            <a:pathLst>
              <a:path w="3733926" h="10831899">
                <a:moveTo>
                  <a:pt x="0" y="0"/>
                </a:moveTo>
                <a:lnTo>
                  <a:pt x="3733926" y="0"/>
                </a:lnTo>
                <a:lnTo>
                  <a:pt x="3733926" y="10831899"/>
                </a:lnTo>
                <a:lnTo>
                  <a:pt x="0" y="10831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35" r="-2035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6" name="Freeform 36"/>
          <p:cNvSpPr/>
          <p:nvPr/>
        </p:nvSpPr>
        <p:spPr>
          <a:xfrm rot="5400000">
            <a:off x="1922161" y="4792899"/>
            <a:ext cx="3733926" cy="7578248"/>
          </a:xfrm>
          <a:custGeom>
            <a:avLst/>
            <a:gdLst/>
            <a:ahLst/>
            <a:cxnLst/>
            <a:rect l="l" t="t" r="r" b="b"/>
            <a:pathLst>
              <a:path w="3733926" h="7578248">
                <a:moveTo>
                  <a:pt x="0" y="0"/>
                </a:moveTo>
                <a:lnTo>
                  <a:pt x="3733926" y="0"/>
                </a:lnTo>
                <a:lnTo>
                  <a:pt x="3733926" y="7578248"/>
                </a:lnTo>
                <a:lnTo>
                  <a:pt x="0" y="7578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45" t="-50102" r="-4645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7" name="Freeform 37"/>
          <p:cNvSpPr/>
          <p:nvPr/>
        </p:nvSpPr>
        <p:spPr>
          <a:xfrm rot="-10800000" flipH="1" flipV="1">
            <a:off x="0" y="9137739"/>
            <a:ext cx="18418553" cy="1533272"/>
          </a:xfrm>
          <a:custGeom>
            <a:avLst/>
            <a:gdLst/>
            <a:ahLst/>
            <a:cxnLst/>
            <a:rect l="l" t="t" r="r" b="b"/>
            <a:pathLst>
              <a:path w="18418553" h="1533272">
                <a:moveTo>
                  <a:pt x="18418553" y="1533272"/>
                </a:moveTo>
                <a:lnTo>
                  <a:pt x="0" y="1533272"/>
                </a:lnTo>
                <a:lnTo>
                  <a:pt x="0" y="0"/>
                </a:lnTo>
                <a:lnTo>
                  <a:pt x="18418553" y="0"/>
                </a:lnTo>
                <a:lnTo>
                  <a:pt x="18418553" y="1533272"/>
                </a:lnTo>
                <a:close/>
              </a:path>
            </a:pathLst>
          </a:custGeom>
          <a:blipFill>
            <a:blip r:embed="rId7"/>
            <a:stretch>
              <a:fillRect t="-53153" r="-10298" b="-63810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8" name="TextBox 38"/>
          <p:cNvSpPr txBox="1"/>
          <p:nvPr/>
        </p:nvSpPr>
        <p:spPr>
          <a:xfrm>
            <a:off x="4444601" y="9509214"/>
            <a:ext cx="9743399" cy="420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089"/>
              </a:lnSpc>
              <a:spcBef>
                <a:spcPct val="0"/>
              </a:spcBef>
            </a:pPr>
            <a:r>
              <a:rPr lang="he-IL" sz="2206" b="1">
                <a:solidFill>
                  <a:srgbClr val="F4F4F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מבוסס על עקרונות המודל האירופי למצוינות (</a:t>
            </a:r>
            <a:r>
              <a:rPr lang="en-US" sz="2206" b="1">
                <a:solidFill>
                  <a:srgbClr val="F4F4F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EFQM</a:t>
            </a:r>
            <a:r>
              <a:rPr lang="he-IL" sz="2206" b="1">
                <a:solidFill>
                  <a:srgbClr val="F4F4F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) בהתאמה לחינוך הציבורי בישראל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43495" y="4872090"/>
            <a:ext cx="8069589" cy="461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640"/>
              </a:lnSpc>
              <a:spcBef>
                <a:spcPct val="0"/>
              </a:spcBef>
            </a:pPr>
            <a:r>
              <a:rPr lang="ar-EG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he-IL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חזון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חזון מגובש ומשותף הברור והמוכר לעובדי הארגון, לקהילה ולבעלי העניין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מעורבות בעלי עניין בגיבוש ועדכון החזון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הלימה בין חזון, ערכים ותהליכי עבודה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ביטוי החזון במרחב הבית ספרי ובשיח הארגוני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תוכנית להטמעת החזון - תהליך סדור ליישום החזון לשלוש שנים</a:t>
            </a:r>
          </a:p>
          <a:p>
            <a:pPr algn="just" rtl="1">
              <a:lnSpc>
                <a:spcPts val="3640"/>
              </a:lnSpc>
            </a:pPr>
            <a:r>
              <a:rPr lang="ar-EG" sz="2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57472" y="2609399"/>
            <a:ext cx="7600667" cy="643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640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640"/>
              </a:lnSpc>
              <a:spcBef>
                <a:spcPct val="0"/>
              </a:spcBef>
            </a:pPr>
            <a:r>
              <a:rPr lang="ar-EG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he-IL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ייחודיות והצעת ערך חינוכית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זהות חינוכית מובחנת ועקבית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הטמעת ונראות הצעת הערך בחיי היום יום ובפעולות הארגון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תרומה ייחודית לקהילה ולמרחב בהלימה להצעת הערך ולייחודיות</a:t>
            </a:r>
          </a:p>
          <a:p>
            <a:pPr algn="just" rtl="1">
              <a:lnSpc>
                <a:spcPts val="3640"/>
              </a:lnSpc>
              <a:spcBef>
                <a:spcPct val="0"/>
              </a:spcBef>
            </a:pPr>
            <a:r>
              <a:rPr lang="ar-EG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 </a:t>
            </a:r>
          </a:p>
          <a:p>
            <a:pPr algn="just" rtl="1">
              <a:lnSpc>
                <a:spcPts val="3640"/>
              </a:lnSpc>
              <a:spcBef>
                <a:spcPct val="0"/>
              </a:spcBef>
            </a:pPr>
            <a:r>
              <a:rPr lang="ar-EG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he-IL" sz="260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אסטרטגיה - תכנון רב־שנתי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תוכנית עבודה נגזרת חזון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תוכנית אסטרטגית הכוללת תוצאות מפתח ומדדים בכל אחד מהתחומים: פדגוגי, ארגוני, רגשיים וערכי חברתי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תיעדוף משאבים בהתאם לחזון ולתוכנית האסטרטגית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ראייה ארוכת טווח לצד גמישות ניהולית</a:t>
            </a:r>
          </a:p>
          <a:p>
            <a:pPr marL="561391" lvl="1" indent="-280695" algn="r" rtl="1">
              <a:lnSpc>
                <a:spcPts val="3640"/>
              </a:lnSpc>
              <a:buFont typeface="Arial"/>
              <a:buChar char="•"/>
            </a:pPr>
            <a:r>
              <a:rPr lang="he-IL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בקרה תקופתית והתאמה למציאות משתנה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4775466" y="1104900"/>
            <a:ext cx="13512534" cy="1586232"/>
          </a:xfrm>
          <a:custGeom>
            <a:avLst/>
            <a:gdLst/>
            <a:ahLst/>
            <a:cxnLst/>
            <a:rect l="l" t="t" r="r" b="b"/>
            <a:pathLst>
              <a:path w="13512534" h="1586232">
                <a:moveTo>
                  <a:pt x="0" y="0"/>
                </a:moveTo>
                <a:lnTo>
                  <a:pt x="13512534" y="0"/>
                </a:lnTo>
                <a:lnTo>
                  <a:pt x="13512534" y="1586232"/>
                </a:lnTo>
                <a:lnTo>
                  <a:pt x="0" y="1586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88" t="-49885" r="-23004" b="-56693"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5" name="Group 5"/>
          <p:cNvGrpSpPr/>
          <p:nvPr/>
        </p:nvGrpSpPr>
        <p:grpSpPr>
          <a:xfrm>
            <a:off x="4585736" y="955818"/>
            <a:ext cx="13702264" cy="145764"/>
            <a:chOff x="0" y="0"/>
            <a:chExt cx="3413463" cy="363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3463" cy="36312"/>
            </a:xfrm>
            <a:custGeom>
              <a:avLst/>
              <a:gdLst/>
              <a:ahLst/>
              <a:cxnLst/>
              <a:rect l="l" t="t" r="r" b="b"/>
              <a:pathLst>
                <a:path w="3413463" h="36312">
                  <a:moveTo>
                    <a:pt x="0" y="0"/>
                  </a:moveTo>
                  <a:lnTo>
                    <a:pt x="3413463" y="0"/>
                  </a:lnTo>
                  <a:lnTo>
                    <a:pt x="3413463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413463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864643" y="-869476"/>
            <a:ext cx="6101238" cy="4326332"/>
          </a:xfrm>
          <a:custGeom>
            <a:avLst/>
            <a:gdLst/>
            <a:ahLst/>
            <a:cxnLst/>
            <a:rect l="l" t="t" r="r" b="b"/>
            <a:pathLst>
              <a:path w="6101238" h="4326332">
                <a:moveTo>
                  <a:pt x="0" y="0"/>
                </a:moveTo>
                <a:lnTo>
                  <a:pt x="6101237" y="0"/>
                </a:lnTo>
                <a:lnTo>
                  <a:pt x="6101237" y="4326333"/>
                </a:lnTo>
                <a:lnTo>
                  <a:pt x="0" y="4326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9" name="TextBox 9"/>
          <p:cNvSpPr txBox="1"/>
          <p:nvPr/>
        </p:nvSpPr>
        <p:spPr>
          <a:xfrm>
            <a:off x="11194922" y="1302561"/>
            <a:ext cx="6334913" cy="9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אשכול: חזון, ייחודיות וערך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13504" y="3056827"/>
            <a:ext cx="6716332" cy="21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346"/>
              </a:lnSpc>
            </a:pPr>
            <a:r>
              <a:rPr lang="he-IL" sz="2634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 זה מבטא את ליבת העשייה המוסדית – החיבור בין זהות, כיוון אסטרטגי ויישום בפועל.</a:t>
            </a:r>
          </a:p>
          <a:p>
            <a:pPr algn="just" rtl="1">
              <a:lnSpc>
                <a:spcPts val="3346"/>
              </a:lnSpc>
            </a:pPr>
            <a:r>
              <a:rPr lang="he-IL" sz="2634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האשכול בוחן את יכולתו של המוסד לתרגם חזון ערכי ותפיסת עולם חינוכית להצעת ערך ברורה, איכותית ומשמעותית עבור הלומדים והקהילה.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7784" y="3376230"/>
            <a:ext cx="7293569" cy="568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654"/>
              </a:lnSpc>
              <a:spcBef>
                <a:spcPct val="0"/>
              </a:spcBef>
            </a:pPr>
            <a:r>
              <a:rPr lang="he-IL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 זה מבטא את איכות המנהיגות ואת התרבות הארגונית המעצבת את חיי המוסד. הוא בוחן את יכולת ההנהגה להוביל שינוי, לטפח אמון וליצור סביבה מקצועית המעודדת יוזמה, אחריותיות ושיפור מתמיד.</a:t>
            </a:r>
          </a:p>
          <a:p>
            <a:pPr algn="r" rtl="1">
              <a:lnSpc>
                <a:spcPts val="3654"/>
              </a:lnSpc>
              <a:spcBef>
                <a:spcPct val="0"/>
              </a:spcBef>
            </a:pPr>
            <a:r>
              <a:rPr lang="he-IL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תחומים באשכול:</a:t>
            </a:r>
          </a:p>
          <a:p>
            <a:pPr algn="r" rtl="1">
              <a:lnSpc>
                <a:spcPts val="1331"/>
              </a:lnSpc>
            </a:pPr>
            <a:endParaRPr lang="he-IL" sz="2610" b="1">
              <a:solidFill>
                <a:srgbClr val="19496F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r" rtl="1">
              <a:lnSpc>
                <a:spcPts val="3654"/>
              </a:lnSpc>
              <a:spcBef>
                <a:spcPct val="0"/>
              </a:spcBef>
            </a:pPr>
            <a:r>
              <a:rPr lang="ar-EG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he-IL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מנהיגות חינוכית מעצבת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הנהגה ערכית ומקצועית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קבלת החלטות מבוססת נתונים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פיתוח מנהיגות בדרגי ביניים בעלי עצמאות ניהולית 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ניהול אתי ושקוף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מבנה ארגוני - חלוקת תפקידים וסמכויות ברורה</a:t>
            </a:r>
          </a:p>
          <a:p>
            <a:pPr marL="563590" lvl="1" indent="-281795" algn="r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הגדרות תפקיד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54540" y="2920371"/>
            <a:ext cx="6489460" cy="585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654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654"/>
              </a:lnSpc>
              <a:spcBef>
                <a:spcPct val="0"/>
              </a:spcBef>
            </a:pPr>
            <a:r>
              <a:rPr lang="ar-EG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he-IL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תרבות ארגונית מיטיבה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נהלים ברורים, חדים, אמינים ושקופים אשר נאכפים ונידונים שוב ושוב מתוך פתיחות ודיאלוג.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קודים של התנהגויות, אמונות וערכים המקובלים בארגון.</a:t>
            </a:r>
          </a:p>
          <a:p>
            <a:pPr algn="just" rtl="1">
              <a:lnSpc>
                <a:spcPts val="2636"/>
              </a:lnSpc>
            </a:pPr>
            <a:r>
              <a:rPr lang="ar-EG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 </a:t>
            </a:r>
          </a:p>
          <a:p>
            <a:pPr algn="just" rtl="1">
              <a:lnSpc>
                <a:spcPts val="3654"/>
              </a:lnSpc>
              <a:spcBef>
                <a:spcPct val="0"/>
              </a:spcBef>
            </a:pPr>
            <a:r>
              <a:rPr lang="ar-EG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he-IL" sz="2610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חדשנות וחשיבת עתיד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מגמות חינוכיות לוקליות המשפיעות על הארגון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עידוד יוזמות חינוכיות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התנסות וניסוי מבוקר הכולל משוב והטמעה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שילוב כלים וטכנולוגיות מתקדמות</a:t>
            </a:r>
          </a:p>
          <a:p>
            <a:pPr marL="563590" lvl="1" indent="-281795" algn="just" rtl="1">
              <a:lnSpc>
                <a:spcPts val="3654"/>
              </a:lnSpc>
              <a:buFont typeface="Arial"/>
              <a:buChar char="•"/>
            </a:pPr>
            <a:r>
              <a:rPr lang="he-IL" sz="26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הסתגלות למציאות משתנה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4250225" y="1143775"/>
            <a:ext cx="14037775" cy="1600365"/>
          </a:xfrm>
          <a:custGeom>
            <a:avLst/>
            <a:gdLst/>
            <a:ahLst/>
            <a:cxnLst/>
            <a:rect l="l" t="t" r="r" b="b"/>
            <a:pathLst>
              <a:path w="14037775" h="1600365">
                <a:moveTo>
                  <a:pt x="0" y="0"/>
                </a:moveTo>
                <a:lnTo>
                  <a:pt x="14037775" y="0"/>
                </a:lnTo>
                <a:lnTo>
                  <a:pt x="14037775" y="1600365"/>
                </a:lnTo>
                <a:lnTo>
                  <a:pt x="0" y="160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09" t="-61540" r="-32981" b="-79753"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5" name="Group 5"/>
          <p:cNvGrpSpPr/>
          <p:nvPr/>
        </p:nvGrpSpPr>
        <p:grpSpPr>
          <a:xfrm>
            <a:off x="4585736" y="1038225"/>
            <a:ext cx="13702264" cy="145764"/>
            <a:chOff x="0" y="0"/>
            <a:chExt cx="3413463" cy="363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3463" cy="36312"/>
            </a:xfrm>
            <a:custGeom>
              <a:avLst/>
              <a:gdLst/>
              <a:ahLst/>
              <a:cxnLst/>
              <a:rect l="l" t="t" r="r" b="b"/>
              <a:pathLst>
                <a:path w="3413463" h="36312">
                  <a:moveTo>
                    <a:pt x="0" y="0"/>
                  </a:moveTo>
                  <a:lnTo>
                    <a:pt x="3413463" y="0"/>
                  </a:lnTo>
                  <a:lnTo>
                    <a:pt x="3413463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413463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133491" y="-967697"/>
            <a:ext cx="6544293" cy="4640499"/>
          </a:xfrm>
          <a:custGeom>
            <a:avLst/>
            <a:gdLst/>
            <a:ahLst/>
            <a:cxnLst/>
            <a:rect l="l" t="t" r="r" b="b"/>
            <a:pathLst>
              <a:path w="6544293" h="4640499">
                <a:moveTo>
                  <a:pt x="0" y="0"/>
                </a:moveTo>
                <a:lnTo>
                  <a:pt x="6544293" y="0"/>
                </a:lnTo>
                <a:lnTo>
                  <a:pt x="6544293" y="4640499"/>
                </a:lnTo>
                <a:lnTo>
                  <a:pt x="0" y="4640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9" name="TextBox 9"/>
          <p:cNvSpPr txBox="1"/>
          <p:nvPr/>
        </p:nvSpPr>
        <p:spPr>
          <a:xfrm>
            <a:off x="9406843" y="1348503"/>
            <a:ext cx="7564509" cy="85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אשכול: הנהגה ותרבות מצמיחה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52360" y="3397983"/>
            <a:ext cx="8031064" cy="453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078"/>
              </a:lnSpc>
            </a:pPr>
            <a:r>
              <a:rPr lang="he-IL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 זה מבטא את תפיסת המוסד את אנשיו ואת קהילתו כמשאב אסטרטגי מרכזי. הוא בוחן את איכות הפיתוח המקצועי, רמת המעורבות ואת עומק השותפות עם בעלי העניין.</a:t>
            </a:r>
          </a:p>
          <a:p>
            <a:pPr algn="just" rtl="1">
              <a:lnSpc>
                <a:spcPts val="3078"/>
              </a:lnSpc>
            </a:pPr>
            <a:r>
              <a:rPr lang="he-IL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תחומים באשכול:</a:t>
            </a:r>
          </a:p>
          <a:p>
            <a:pPr algn="just" rtl="1">
              <a:lnSpc>
                <a:spcPts val="1669"/>
              </a:lnSpc>
            </a:pPr>
            <a:endParaRPr lang="he-IL" sz="2608" b="1">
              <a:solidFill>
                <a:srgbClr val="19496F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just" rtl="1">
              <a:lnSpc>
                <a:spcPts val="3652"/>
              </a:lnSpc>
              <a:spcBef>
                <a:spcPct val="0"/>
              </a:spcBef>
            </a:pPr>
            <a:r>
              <a:rPr lang="ar-EG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he-IL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פיתוח ההון האנושי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מיפוי מאפייני ההון האנושי – הכולל ידע, כישורים ומוטיבציה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תוכניות פיתוח מקצועי מותאמות קבוצה ופרט הכוללים מסלולי התמקצעות וצמיחה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מנגנוני הערכה ומשוב שיטתיים לשיפור יכולות וכישורי העובדים</a:t>
            </a:r>
          </a:p>
          <a:p>
            <a:pPr marL="563206" lvl="1" indent="-281603" algn="just" rtl="1">
              <a:lnSpc>
                <a:spcPts val="3652"/>
              </a:lnSpc>
              <a:spcBef>
                <a:spcPct val="0"/>
              </a:spcBef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קליטה וליווי של עובדים חדשים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74091" y="2896746"/>
            <a:ext cx="5954400" cy="6439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652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652"/>
              </a:lnSpc>
              <a:spcBef>
                <a:spcPct val="0"/>
              </a:spcBef>
            </a:pPr>
            <a:r>
              <a:rPr lang="ar-EG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he-IL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רווחה אישית </a:t>
            </a:r>
            <a:r>
              <a:rPr lang="en-US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Well Bing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שביעות הרצון של ההון האנושי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הוקרה והערכה</a:t>
            </a:r>
          </a:p>
          <a:p>
            <a:pPr algn="just" rtl="1">
              <a:lnSpc>
                <a:spcPts val="3652"/>
              </a:lnSpc>
              <a:spcBef>
                <a:spcPct val="0"/>
              </a:spcBef>
            </a:pPr>
            <a:r>
              <a:rPr lang="ar-EG" sz="260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</a:t>
            </a:r>
          </a:p>
          <a:p>
            <a:pPr algn="just" rtl="1">
              <a:lnSpc>
                <a:spcPts val="3652"/>
              </a:lnSpc>
              <a:spcBef>
                <a:spcPct val="0"/>
              </a:spcBef>
            </a:pPr>
            <a:r>
              <a:rPr lang="ar-EG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he-IL" sz="2608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שותפות ושיתופי פעולה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ניהול האקוסיסטם – בהלימה לרמת ההשפעה ההדדית של ביה"ס ובעלי העניין 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מנגנון התומך באיתור בעלי העניין, ביצירת וניהול שותפויות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שיתופי פעולה אזוריים ובין־מוסדיים</a:t>
            </a:r>
          </a:p>
          <a:p>
            <a:pPr marL="563206" lvl="1" indent="-281603" algn="just" rtl="1">
              <a:lnSpc>
                <a:spcPts val="3652"/>
              </a:lnSpc>
              <a:buFont typeface="Arial"/>
              <a:buChar char="•"/>
            </a:pPr>
            <a:r>
              <a:rPr lang="he-IL" sz="260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שותפות מורים ותלמידים בתהליכי קבלת החלטות</a:t>
            </a:r>
          </a:p>
          <a:p>
            <a:pPr algn="just" rtl="1">
              <a:lnSpc>
                <a:spcPts val="3652"/>
              </a:lnSpc>
              <a:spcBef>
                <a:spcPct val="0"/>
              </a:spcBef>
            </a:pPr>
            <a:endParaRPr lang="he-IL" sz="2608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585736" y="1028700"/>
            <a:ext cx="13702264" cy="145764"/>
            <a:chOff x="0" y="0"/>
            <a:chExt cx="3413463" cy="363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463" cy="36312"/>
            </a:xfrm>
            <a:custGeom>
              <a:avLst/>
              <a:gdLst/>
              <a:ahLst/>
              <a:cxnLst/>
              <a:rect l="l" t="t" r="r" b="b"/>
              <a:pathLst>
                <a:path w="3413463" h="36312">
                  <a:moveTo>
                    <a:pt x="0" y="0"/>
                  </a:moveTo>
                  <a:lnTo>
                    <a:pt x="3413463" y="0"/>
                  </a:lnTo>
                  <a:lnTo>
                    <a:pt x="3413463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3413463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3678725" y="1143775"/>
            <a:ext cx="14609275" cy="1600365"/>
          </a:xfrm>
          <a:custGeom>
            <a:avLst/>
            <a:gdLst/>
            <a:ahLst/>
            <a:cxnLst/>
            <a:rect l="l" t="t" r="r" b="b"/>
            <a:pathLst>
              <a:path w="14609275" h="1600365">
                <a:moveTo>
                  <a:pt x="0" y="0"/>
                </a:moveTo>
                <a:lnTo>
                  <a:pt x="14609275" y="0"/>
                </a:lnTo>
                <a:lnTo>
                  <a:pt x="14609275" y="1600365"/>
                </a:lnTo>
                <a:lnTo>
                  <a:pt x="0" y="160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28" t="-61540" r="-31691" b="-79753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8" name="Freeform 8"/>
          <p:cNvSpPr/>
          <p:nvPr/>
        </p:nvSpPr>
        <p:spPr>
          <a:xfrm>
            <a:off x="2079145" y="-967697"/>
            <a:ext cx="6544293" cy="4640499"/>
          </a:xfrm>
          <a:custGeom>
            <a:avLst/>
            <a:gdLst/>
            <a:ahLst/>
            <a:cxnLst/>
            <a:rect l="l" t="t" r="r" b="b"/>
            <a:pathLst>
              <a:path w="6544293" h="4640499">
                <a:moveTo>
                  <a:pt x="0" y="0"/>
                </a:moveTo>
                <a:lnTo>
                  <a:pt x="6544293" y="0"/>
                </a:lnTo>
                <a:lnTo>
                  <a:pt x="6544293" y="4640499"/>
                </a:lnTo>
                <a:lnTo>
                  <a:pt x="0" y="4640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9" name="TextBox 9"/>
          <p:cNvSpPr txBox="1"/>
          <p:nvPr/>
        </p:nvSpPr>
        <p:spPr>
          <a:xfrm>
            <a:off x="10288124" y="1348503"/>
            <a:ext cx="6856876" cy="85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אשכול: הון אנושי ושותפויות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87496" y="3133236"/>
            <a:ext cx="7203571" cy="418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200"/>
              </a:lnSpc>
            </a:pPr>
            <a:r>
              <a:rPr lang="he-IL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 זה מבטא את התשתית הארגונית התומכת במצוינות. הוא בוחן את איכות ניהול התהליכים, בהירות האחריות ואת היכולת לפעול באופן עקבי, מסודר ואפקטיבי.</a:t>
            </a:r>
          </a:p>
          <a:p>
            <a:pPr algn="just" rtl="1">
              <a:lnSpc>
                <a:spcPts val="3200"/>
              </a:lnSpc>
            </a:pPr>
            <a:r>
              <a:rPr lang="he-IL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תחומים באשכול:</a:t>
            </a:r>
          </a:p>
          <a:p>
            <a:pPr algn="just" rtl="1">
              <a:lnSpc>
                <a:spcPts val="1760"/>
              </a:lnSpc>
            </a:pPr>
            <a:endParaRPr lang="he-IL" sz="2667" b="1">
              <a:solidFill>
                <a:srgbClr val="19496F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just" rtl="1">
              <a:lnSpc>
                <a:spcPts val="3733"/>
              </a:lnSpc>
              <a:spcBef>
                <a:spcPct val="0"/>
              </a:spcBef>
            </a:pPr>
            <a:r>
              <a:rPr lang="ar-EG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he-IL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ניהול תהליכי ליבה</a:t>
            </a:r>
          </a:p>
          <a:p>
            <a:pPr marL="575825" lvl="1" indent="-287912" algn="r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מיפוי תהליכים מרכזיים</a:t>
            </a:r>
          </a:p>
          <a:p>
            <a:pPr marL="575825" lvl="1" indent="-287912" algn="r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ניהול תקציב התומך בניהול התהליכים </a:t>
            </a:r>
          </a:p>
          <a:p>
            <a:pPr marL="575825" lvl="1" indent="-287912" algn="r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הערכת איכות התהליכים ושיפורם</a:t>
            </a:r>
          </a:p>
          <a:p>
            <a:pPr marL="575825" lvl="1" indent="-287912" algn="r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עדכון תהליכים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77314" y="2629840"/>
            <a:ext cx="6570417" cy="6113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733"/>
              </a:lnSpc>
              <a:spcBef>
                <a:spcPct val="0"/>
              </a:spcBef>
            </a:pPr>
            <a:endParaRPr/>
          </a:p>
          <a:p>
            <a:pPr algn="just" rtl="1">
              <a:lnSpc>
                <a:spcPts val="3733"/>
              </a:lnSpc>
              <a:spcBef>
                <a:spcPct val="0"/>
              </a:spcBef>
            </a:pPr>
            <a:r>
              <a:rPr lang="ar-EG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</a:t>
            </a:r>
            <a:r>
              <a:rPr lang="en-US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he-IL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מדידה, בקרה ושיפור מתמיד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שימוש עקבי בנתונים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מנגנוני בקרה תקופתיים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ניתוח פערים וגיבוש תוכניות שיפור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למידה מהצלחות ומכשלים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צוותי שיפור</a:t>
            </a:r>
          </a:p>
          <a:p>
            <a:pPr algn="just" rtl="1">
              <a:lnSpc>
                <a:spcPts val="3733"/>
              </a:lnSpc>
              <a:spcBef>
                <a:spcPct val="0"/>
              </a:spcBef>
            </a:pPr>
            <a:r>
              <a:rPr lang="ar-EG" sz="26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</a:t>
            </a:r>
          </a:p>
          <a:p>
            <a:pPr algn="just" rtl="1">
              <a:lnSpc>
                <a:spcPts val="3733"/>
              </a:lnSpc>
              <a:spcBef>
                <a:spcPct val="0"/>
              </a:spcBef>
            </a:pPr>
            <a:r>
              <a:rPr lang="ar-EG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</a:t>
            </a:r>
            <a:r>
              <a:rPr lang="en-US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he-IL" sz="2667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ניהול סיכונים וזיהוי הזדמנויות במשבר: 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מיפוי סיכונים פוטנציאליים (פדגוגיים, ארגוניים וביטחוניים) והכנת מענים מבעוד מועד.</a:t>
            </a:r>
          </a:p>
          <a:p>
            <a:pPr marL="575825" lvl="1" indent="-287912" algn="just" rtl="1">
              <a:lnSpc>
                <a:spcPts val="3733"/>
              </a:lnSpc>
              <a:buFont typeface="Arial"/>
              <a:buChar char="•"/>
            </a:pPr>
            <a:r>
              <a:rPr lang="he-IL" sz="26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יכולת הארגון לזהות הזדמנויות לצמיחה, לחדשנות ולשינוי חיובי מתוך מצבי משבר ואי-ודאות.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85736" y="1038225"/>
            <a:ext cx="13702264" cy="145764"/>
            <a:chOff x="0" y="0"/>
            <a:chExt cx="3413463" cy="363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463" cy="36312"/>
            </a:xfrm>
            <a:custGeom>
              <a:avLst/>
              <a:gdLst/>
              <a:ahLst/>
              <a:cxnLst/>
              <a:rect l="l" t="t" r="r" b="b"/>
              <a:pathLst>
                <a:path w="3413463" h="36312">
                  <a:moveTo>
                    <a:pt x="0" y="0"/>
                  </a:moveTo>
                  <a:lnTo>
                    <a:pt x="3413463" y="0"/>
                  </a:lnTo>
                  <a:lnTo>
                    <a:pt x="3413463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3413463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3678725" y="1143775"/>
            <a:ext cx="14609275" cy="1600365"/>
          </a:xfrm>
          <a:custGeom>
            <a:avLst/>
            <a:gdLst/>
            <a:ahLst/>
            <a:cxnLst/>
            <a:rect l="l" t="t" r="r" b="b"/>
            <a:pathLst>
              <a:path w="14609275" h="1600365">
                <a:moveTo>
                  <a:pt x="0" y="0"/>
                </a:moveTo>
                <a:lnTo>
                  <a:pt x="14609275" y="0"/>
                </a:lnTo>
                <a:lnTo>
                  <a:pt x="14609275" y="1600365"/>
                </a:lnTo>
                <a:lnTo>
                  <a:pt x="0" y="160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28" t="-61540" r="-31691" b="-79753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8" name="Freeform 8"/>
          <p:cNvSpPr/>
          <p:nvPr/>
        </p:nvSpPr>
        <p:spPr>
          <a:xfrm>
            <a:off x="1372092" y="-967697"/>
            <a:ext cx="6544293" cy="4640499"/>
          </a:xfrm>
          <a:custGeom>
            <a:avLst/>
            <a:gdLst/>
            <a:ahLst/>
            <a:cxnLst/>
            <a:rect l="l" t="t" r="r" b="b"/>
            <a:pathLst>
              <a:path w="6544293" h="4640499">
                <a:moveTo>
                  <a:pt x="0" y="0"/>
                </a:moveTo>
                <a:lnTo>
                  <a:pt x="6544293" y="0"/>
                </a:lnTo>
                <a:lnTo>
                  <a:pt x="6544293" y="4640499"/>
                </a:lnTo>
                <a:lnTo>
                  <a:pt x="0" y="4640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9" name="TextBox 9"/>
          <p:cNvSpPr txBox="1"/>
          <p:nvPr/>
        </p:nvSpPr>
        <p:spPr>
          <a:xfrm>
            <a:off x="11481158" y="1348503"/>
            <a:ext cx="5434750" cy="85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אשכול: ניהול תהליכים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11077" y="2198196"/>
            <a:ext cx="12455064" cy="2009632"/>
            <a:chOff x="0" y="0"/>
            <a:chExt cx="2504933" cy="404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4933" cy="404173"/>
            </a:xfrm>
            <a:custGeom>
              <a:avLst/>
              <a:gdLst/>
              <a:ahLst/>
              <a:cxnLst/>
              <a:rect l="l" t="t" r="r" b="b"/>
              <a:pathLst>
                <a:path w="2504933" h="404173">
                  <a:moveTo>
                    <a:pt x="0" y="0"/>
                  </a:moveTo>
                  <a:lnTo>
                    <a:pt x="2504933" y="0"/>
                  </a:lnTo>
                  <a:lnTo>
                    <a:pt x="2504933" y="404173"/>
                  </a:lnTo>
                  <a:lnTo>
                    <a:pt x="0" y="404173"/>
                  </a:lnTo>
                  <a:close/>
                </a:path>
              </a:pathLst>
            </a:custGeom>
            <a:ln w="38100" cap="sq">
              <a:gradFill>
                <a:gsLst>
                  <a:gs pos="0">
                    <a:srgbClr val="C39348">
                      <a:alpha val="100000"/>
                    </a:srgbClr>
                  </a:gs>
                  <a:gs pos="50000">
                    <a:srgbClr val="FFDAA0">
                      <a:alpha val="100000"/>
                    </a:srgbClr>
                  </a:gs>
                  <a:gs pos="100000">
                    <a:srgbClr val="C3934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04933" cy="432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62312" y="2352848"/>
            <a:ext cx="11735227" cy="697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226"/>
              </a:lnSpc>
            </a:pPr>
            <a:r>
              <a:rPr lang="he-IL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 זה בוחן את היכולת של הארגון להגדיר מערכת מדדים שאפתנית, לעמוד בה ולהפגין השפעה ממשית. מצוינות נמדדת בתוצר הממשי של העשייה – הישגי הלומדים, רווחתם הנפשית, חוסנו של הצוות והערך המוסף שהמוסד מייצר עבור הקהילה והמחוז, באמצעות השגת יעדים גבוהים ושמירה על רמת ביצוע מעולה לאורך זמן </a:t>
            </a:r>
          </a:p>
          <a:p>
            <a:pPr algn="just" rtl="1">
              <a:lnSpc>
                <a:spcPts val="2211"/>
              </a:lnSpc>
            </a:pPr>
            <a:endParaRPr lang="he-IL" sz="2601" b="1">
              <a:solidFill>
                <a:srgbClr val="19496F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just" rtl="1">
              <a:lnSpc>
                <a:spcPts val="3642"/>
              </a:lnSpc>
              <a:spcBef>
                <a:spcPct val="0"/>
              </a:spcBef>
            </a:pPr>
            <a:r>
              <a:rPr lang="ar-EG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 </a:t>
            </a:r>
            <a:r>
              <a:rPr lang="en-US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he-IL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הישגים ותפוקות : 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עמידה ביעדים פדגוגיים, ניהוליים, ערכיים-רגשיים וחברתיים ברמה גבוהה. 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השוואת ביצועים מול יעדי התוכנית האסטרטגית שפותחה ומול נורמות מחוזיות/ארציות (</a:t>
            </a:r>
            <a:r>
              <a:rPr lang="en-US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Benchmarking</a:t>
            </a:r>
            <a:r>
              <a:rPr lang="ar-EG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) .</a:t>
            </a:r>
          </a:p>
          <a:p>
            <a:pPr algn="just" rtl="1">
              <a:lnSpc>
                <a:spcPts val="3642"/>
              </a:lnSpc>
              <a:spcBef>
                <a:spcPct val="0"/>
              </a:spcBef>
            </a:pPr>
            <a:r>
              <a:rPr lang="ar-EG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</a:t>
            </a:r>
            <a:r>
              <a:rPr lang="en-US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he-IL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ניהול מדדים : ניהול מערכת מדדים המשלבת 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מדדי מצויינות - נתונים אובייקטיביים 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מדדי איכות - נתונים סובייקטיביים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הוכחת קשר ישיר בין המהלכים הניהוליים (אשכול </a:t>
            </a:r>
            <a:r>
              <a:rPr lang="en-US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) לבין התוצאות שהושגו בשטח.</a:t>
            </a:r>
          </a:p>
          <a:p>
            <a:pPr algn="just" rtl="1">
              <a:lnSpc>
                <a:spcPts val="3642"/>
              </a:lnSpc>
              <a:spcBef>
                <a:spcPct val="0"/>
              </a:spcBef>
            </a:pPr>
            <a:r>
              <a:rPr lang="ar-EG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  </a:t>
            </a:r>
            <a:r>
              <a:rPr lang="en-US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he-IL" sz="2601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. השפעה והערך המוסף :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יצירת שינוי משמעותי בחיי הלומדים, הצוות והקהילה.</a:t>
            </a:r>
          </a:p>
          <a:p>
            <a:pPr marL="561739" lvl="1" indent="-280869" algn="r" rtl="1">
              <a:lnSpc>
                <a:spcPts val="3642"/>
              </a:lnSpc>
              <a:buFont typeface="Arial"/>
              <a:buChar char="•"/>
            </a:pPr>
            <a:r>
              <a:rPr lang="he-IL" sz="26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מובילות אזורית והפיכת המוסד למודל השראה מחוזי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90369" y="1216837"/>
            <a:ext cx="7434570" cy="85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אשכול: ניהול תוצאות והשפעה</a:t>
            </a:r>
          </a:p>
        </p:txBody>
      </p:sp>
      <p:sp>
        <p:nvSpPr>
          <p:cNvPr id="7" name="Freeform 7"/>
          <p:cNvSpPr/>
          <p:nvPr/>
        </p:nvSpPr>
        <p:spPr>
          <a:xfrm>
            <a:off x="14597539" y="0"/>
            <a:ext cx="3690461" cy="10287000"/>
          </a:xfrm>
          <a:custGeom>
            <a:avLst/>
            <a:gdLst/>
            <a:ahLst/>
            <a:cxnLst/>
            <a:rect l="l" t="t" r="r" b="b"/>
            <a:pathLst>
              <a:path w="3690461" h="10287000">
                <a:moveTo>
                  <a:pt x="0" y="0"/>
                </a:moveTo>
                <a:lnTo>
                  <a:pt x="3690461" y="0"/>
                </a:lnTo>
                <a:lnTo>
                  <a:pt x="36904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8" name="Group 8"/>
          <p:cNvGrpSpPr/>
          <p:nvPr/>
        </p:nvGrpSpPr>
        <p:grpSpPr>
          <a:xfrm rot="5400000">
            <a:off x="12062602" y="5196698"/>
            <a:ext cx="10539160" cy="145764"/>
            <a:chOff x="0" y="0"/>
            <a:chExt cx="2625481" cy="36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25481" cy="36312"/>
            </a:xfrm>
            <a:custGeom>
              <a:avLst/>
              <a:gdLst/>
              <a:ahLst/>
              <a:cxnLst/>
              <a:rect l="l" t="t" r="r" b="b"/>
              <a:pathLst>
                <a:path w="2625481" h="36312">
                  <a:moveTo>
                    <a:pt x="0" y="0"/>
                  </a:moveTo>
                  <a:lnTo>
                    <a:pt x="2625481" y="0"/>
                  </a:lnTo>
                  <a:lnTo>
                    <a:pt x="2625481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625481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38897" y="2222944"/>
            <a:ext cx="8408921" cy="6434790"/>
          </a:xfrm>
          <a:custGeom>
            <a:avLst/>
            <a:gdLst/>
            <a:ahLst/>
            <a:cxnLst/>
            <a:rect l="l" t="t" r="r" b="b"/>
            <a:pathLst>
              <a:path w="8408921" h="6434790">
                <a:moveTo>
                  <a:pt x="0" y="0"/>
                </a:moveTo>
                <a:lnTo>
                  <a:pt x="8408921" y="0"/>
                </a:lnTo>
                <a:lnTo>
                  <a:pt x="8408921" y="6434790"/>
                </a:lnTo>
                <a:lnTo>
                  <a:pt x="0" y="6434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610" t="-33437" r="-52747" b="-14574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" name="TextBox 3"/>
          <p:cNvSpPr txBox="1"/>
          <p:nvPr/>
        </p:nvSpPr>
        <p:spPr>
          <a:xfrm>
            <a:off x="10324588" y="4626573"/>
            <a:ext cx="1353782" cy="51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4071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69344" y="5535347"/>
            <a:ext cx="1422638" cy="60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115"/>
              </a:lnSpc>
            </a:pPr>
            <a:r>
              <a:rPr lang="he-IL" sz="2376">
                <a:solidFill>
                  <a:srgbClr val="40717C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מה הייתה התוכנית?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57690" y="4980394"/>
            <a:ext cx="1045946" cy="61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</a:t>
            </a:r>
            <a:r>
              <a:rPr lang="he-IL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גישה</a:t>
            </a: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85042" y="6402223"/>
            <a:ext cx="1837585" cy="51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4071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88778" y="7314198"/>
            <a:ext cx="1630111" cy="60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115"/>
              </a:lnSpc>
            </a:pPr>
            <a:r>
              <a:rPr lang="he-IL" sz="2376">
                <a:solidFill>
                  <a:srgbClr val="40717C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איך זה</a:t>
            </a:r>
          </a:p>
          <a:p>
            <a:pPr algn="ctr" rtl="1">
              <a:lnSpc>
                <a:spcPts val="2115"/>
              </a:lnSpc>
            </a:pPr>
            <a:r>
              <a:rPr lang="he-IL" sz="2376">
                <a:solidFill>
                  <a:srgbClr val="40717C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בוצע בשטח?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77124" y="6759245"/>
            <a:ext cx="1234292" cy="61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</a:t>
            </a:r>
            <a:r>
              <a:rPr lang="he-IL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יישום</a:t>
            </a: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14137" y="4669500"/>
            <a:ext cx="1651644" cy="63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651" b="1">
                <a:solidFill>
                  <a:srgbClr val="4071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Assessment</a:t>
            </a:r>
          </a:p>
          <a:p>
            <a:pPr algn="ctr">
              <a:lnSpc>
                <a:spcPts val="2200"/>
              </a:lnSpc>
            </a:pPr>
            <a:r>
              <a:rPr lang="en-US" sz="2651" b="1">
                <a:solidFill>
                  <a:srgbClr val="4071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&amp;Review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49532" y="5635295"/>
            <a:ext cx="2003360" cy="60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115"/>
              </a:lnSpc>
            </a:pPr>
            <a:r>
              <a:rPr lang="he-IL" sz="2376">
                <a:solidFill>
                  <a:srgbClr val="10464B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מה שיניתם בעקבות הבדיקה?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8293" y="5081834"/>
            <a:ext cx="1323333" cy="61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</a:t>
            </a:r>
            <a:r>
              <a:rPr lang="he-IL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הערכה</a:t>
            </a: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7127" y="3040878"/>
            <a:ext cx="1007782" cy="51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40717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9700" y="3908019"/>
            <a:ext cx="1422638" cy="60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115"/>
              </a:lnSpc>
            </a:pPr>
            <a:r>
              <a:rPr lang="he-IL" sz="2376">
                <a:solidFill>
                  <a:srgbClr val="10464B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מה רציתם להשיג?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8601" y="3363475"/>
            <a:ext cx="1404835" cy="61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</a:t>
            </a:r>
            <a:r>
              <a:rPr lang="he-IL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תוצאות</a:t>
            </a:r>
            <a:r>
              <a:rPr lang="en-US" sz="3249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6474210" y="6784235"/>
            <a:ext cx="40668" cy="4473464"/>
          </a:xfrm>
          <a:custGeom>
            <a:avLst/>
            <a:gdLst/>
            <a:ahLst/>
            <a:cxnLst/>
            <a:rect l="l" t="t" r="r" b="b"/>
            <a:pathLst>
              <a:path w="40668" h="4473464">
                <a:moveTo>
                  <a:pt x="0" y="0"/>
                </a:moveTo>
                <a:lnTo>
                  <a:pt x="40667" y="0"/>
                </a:lnTo>
                <a:lnTo>
                  <a:pt x="40667" y="4473465"/>
                </a:lnTo>
                <a:lnTo>
                  <a:pt x="0" y="4473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6" name="Freeform 16"/>
          <p:cNvSpPr/>
          <p:nvPr/>
        </p:nvSpPr>
        <p:spPr>
          <a:xfrm rot="5400000">
            <a:off x="11346237" y="6784235"/>
            <a:ext cx="40668" cy="4473464"/>
          </a:xfrm>
          <a:custGeom>
            <a:avLst/>
            <a:gdLst/>
            <a:ahLst/>
            <a:cxnLst/>
            <a:rect l="l" t="t" r="r" b="b"/>
            <a:pathLst>
              <a:path w="40668" h="4473464">
                <a:moveTo>
                  <a:pt x="0" y="0"/>
                </a:moveTo>
                <a:lnTo>
                  <a:pt x="40668" y="0"/>
                </a:lnTo>
                <a:lnTo>
                  <a:pt x="40668" y="4473465"/>
                </a:lnTo>
                <a:lnTo>
                  <a:pt x="0" y="4473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7" name="TextBox 17"/>
          <p:cNvSpPr txBox="1"/>
          <p:nvPr/>
        </p:nvSpPr>
        <p:spPr>
          <a:xfrm>
            <a:off x="4169162" y="9107868"/>
            <a:ext cx="9434140" cy="546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12"/>
              </a:lnSpc>
              <a:spcBef>
                <a:spcPct val="0"/>
              </a:spcBef>
            </a:pPr>
            <a:r>
              <a:rPr lang="he-IL" sz="2866" b="1">
                <a:solidFill>
                  <a:srgbClr val="19496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המצוינות נמדדת ביכולת לסגור את המעגל: מתכנון&lt;- לביצוע&lt;- ללמידה.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54074" y="-124568"/>
            <a:ext cx="3733926" cy="10701171"/>
          </a:xfrm>
          <a:custGeom>
            <a:avLst/>
            <a:gdLst/>
            <a:ahLst/>
            <a:cxnLst/>
            <a:rect l="l" t="t" r="r" b="b"/>
            <a:pathLst>
              <a:path w="3733926" h="10701171">
                <a:moveTo>
                  <a:pt x="0" y="0"/>
                </a:moveTo>
                <a:lnTo>
                  <a:pt x="3733926" y="0"/>
                </a:lnTo>
                <a:lnTo>
                  <a:pt x="3733926" y="10701171"/>
                </a:lnTo>
                <a:lnTo>
                  <a:pt x="0" y="10701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7" r="-1407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9" name="Freeform 19"/>
          <p:cNvSpPr/>
          <p:nvPr/>
        </p:nvSpPr>
        <p:spPr>
          <a:xfrm rot="5400000">
            <a:off x="10275167" y="-288719"/>
            <a:ext cx="41994" cy="4619380"/>
          </a:xfrm>
          <a:custGeom>
            <a:avLst/>
            <a:gdLst/>
            <a:ahLst/>
            <a:cxnLst/>
            <a:rect l="l" t="t" r="r" b="b"/>
            <a:pathLst>
              <a:path w="41994" h="4619380">
                <a:moveTo>
                  <a:pt x="0" y="0"/>
                </a:moveTo>
                <a:lnTo>
                  <a:pt x="41995" y="0"/>
                </a:lnTo>
                <a:lnTo>
                  <a:pt x="41995" y="4619380"/>
                </a:lnTo>
                <a:lnTo>
                  <a:pt x="0" y="4619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20" name="TextBox 20"/>
          <p:cNvSpPr txBox="1"/>
          <p:nvPr/>
        </p:nvSpPr>
        <p:spPr>
          <a:xfrm>
            <a:off x="5166611" y="597825"/>
            <a:ext cx="7579951" cy="99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291"/>
              </a:lnSpc>
              <a:spcBef>
                <a:spcPct val="0"/>
              </a:spcBef>
            </a:pPr>
            <a:r>
              <a:rPr lang="he-IL" sz="5208" b="1">
                <a:solidFill>
                  <a:srgbClr val="00C0DD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לוגיקת המדידה: מעגל </a:t>
            </a:r>
            <a:r>
              <a:rPr lang="en-US" sz="5208" b="1">
                <a:solidFill>
                  <a:srgbClr val="00C0D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RADAR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35809" y="1296089"/>
            <a:ext cx="4810754" cy="71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299"/>
              </a:lnSpc>
              <a:spcBef>
                <a:spcPct val="0"/>
              </a:spcBef>
            </a:pPr>
            <a:r>
              <a:rPr lang="he-IL" sz="3785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כיצד אנו מעריכים מצוינות?</a:t>
            </a: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2062602" y="5196698"/>
            <a:ext cx="10539160" cy="145764"/>
            <a:chOff x="0" y="0"/>
            <a:chExt cx="2625481" cy="363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25481" cy="36312"/>
            </a:xfrm>
            <a:custGeom>
              <a:avLst/>
              <a:gdLst/>
              <a:ahLst/>
              <a:cxnLst/>
              <a:rect l="l" t="t" r="r" b="b"/>
              <a:pathLst>
                <a:path w="2625481" h="36312">
                  <a:moveTo>
                    <a:pt x="0" y="0"/>
                  </a:moveTo>
                  <a:lnTo>
                    <a:pt x="2625481" y="0"/>
                  </a:lnTo>
                  <a:lnTo>
                    <a:pt x="2625481" y="36312"/>
                  </a:lnTo>
                  <a:lnTo>
                    <a:pt x="0" y="36312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2625481" cy="26787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תמונה 75">
            <a:extLst>
              <a:ext uri="{FF2B5EF4-FFF2-40B4-BE49-F238E27FC236}">
                <a16:creationId xmlns:a16="http://schemas.microsoft.com/office/drawing/2014/main" id="{A0280FEE-3A91-EC43-4DDF-C88C0EA5B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24138" y="4703218"/>
            <a:ext cx="2969632" cy="3826336"/>
            <a:chOff x="0" y="0"/>
            <a:chExt cx="432183" cy="556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183" cy="544164"/>
            </a:xfrm>
            <a:custGeom>
              <a:avLst/>
              <a:gdLst/>
              <a:ahLst/>
              <a:cxnLst/>
              <a:rect l="l" t="t" r="r" b="b"/>
              <a:pathLst>
                <a:path w="432183" h="544164">
                  <a:moveTo>
                    <a:pt x="432183" y="50318"/>
                  </a:moveTo>
                  <a:lnTo>
                    <a:pt x="432183" y="521424"/>
                  </a:lnTo>
                  <a:cubicBezTo>
                    <a:pt x="432183" y="529168"/>
                    <a:pt x="428242" y="536380"/>
                    <a:pt x="421724" y="540562"/>
                  </a:cubicBezTo>
                  <a:cubicBezTo>
                    <a:pt x="415206" y="544745"/>
                    <a:pt x="407008" y="545322"/>
                    <a:pt x="399968" y="542095"/>
                  </a:cubicBezTo>
                  <a:lnTo>
                    <a:pt x="248307" y="472571"/>
                  </a:lnTo>
                  <a:cubicBezTo>
                    <a:pt x="227854" y="463195"/>
                    <a:pt x="204330" y="463195"/>
                    <a:pt x="183876" y="472571"/>
                  </a:cubicBezTo>
                  <a:lnTo>
                    <a:pt x="32216" y="542095"/>
                  </a:lnTo>
                  <a:cubicBezTo>
                    <a:pt x="25176" y="545322"/>
                    <a:pt x="16977" y="544745"/>
                    <a:pt x="10459" y="540562"/>
                  </a:cubicBezTo>
                  <a:cubicBezTo>
                    <a:pt x="3941" y="536380"/>
                    <a:pt x="0" y="529168"/>
                    <a:pt x="0" y="521424"/>
                  </a:cubicBezTo>
                  <a:lnTo>
                    <a:pt x="0" y="49666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50970"/>
                  </a:cubicBezTo>
                  <a:lnTo>
                    <a:pt x="432183" y="50318"/>
                  </a:lnTo>
                  <a:cubicBezTo>
                    <a:pt x="432183" y="50318"/>
                    <a:pt x="432183" y="50318"/>
                    <a:pt x="432183" y="50318"/>
                  </a:cubicBez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32183" cy="476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5254" y="5206576"/>
            <a:ext cx="2969632" cy="3322979"/>
            <a:chOff x="0" y="0"/>
            <a:chExt cx="432183" cy="4836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2183" cy="470908"/>
            </a:xfrm>
            <a:custGeom>
              <a:avLst/>
              <a:gdLst/>
              <a:ahLst/>
              <a:cxnLst/>
              <a:rect l="l" t="t" r="r" b="b"/>
              <a:pathLst>
                <a:path w="432183" h="470908">
                  <a:moveTo>
                    <a:pt x="432183" y="49278"/>
                  </a:moveTo>
                  <a:lnTo>
                    <a:pt x="432183" y="448168"/>
                  </a:lnTo>
                  <a:cubicBezTo>
                    <a:pt x="432183" y="455912"/>
                    <a:pt x="428242" y="463124"/>
                    <a:pt x="421724" y="467307"/>
                  </a:cubicBezTo>
                  <a:cubicBezTo>
                    <a:pt x="415206" y="471489"/>
                    <a:pt x="407008" y="472066"/>
                    <a:pt x="399968" y="468839"/>
                  </a:cubicBezTo>
                  <a:lnTo>
                    <a:pt x="248307" y="399316"/>
                  </a:lnTo>
                  <a:cubicBezTo>
                    <a:pt x="227854" y="389939"/>
                    <a:pt x="204330" y="389939"/>
                    <a:pt x="183876" y="399316"/>
                  </a:cubicBezTo>
                  <a:lnTo>
                    <a:pt x="32216" y="468839"/>
                  </a:lnTo>
                  <a:cubicBezTo>
                    <a:pt x="25176" y="472066"/>
                    <a:pt x="16977" y="471489"/>
                    <a:pt x="10459" y="467307"/>
                  </a:cubicBezTo>
                  <a:cubicBezTo>
                    <a:pt x="3941" y="463124"/>
                    <a:pt x="0" y="455912"/>
                    <a:pt x="0" y="448168"/>
                  </a:cubicBezTo>
                  <a:lnTo>
                    <a:pt x="0" y="48741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49814"/>
                  </a:cubicBezTo>
                  <a:lnTo>
                    <a:pt x="432183" y="49278"/>
                  </a:lnTo>
                  <a:cubicBezTo>
                    <a:pt x="432183" y="49278"/>
                    <a:pt x="432183" y="49278"/>
                    <a:pt x="432183" y="49278"/>
                  </a:cubicBezTo>
                  <a:close/>
                </a:path>
              </a:pathLst>
            </a:custGeom>
            <a:solidFill>
              <a:srgbClr val="06306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32183" cy="403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93022" y="4115968"/>
            <a:ext cx="2969632" cy="4413587"/>
            <a:chOff x="0" y="0"/>
            <a:chExt cx="432183" cy="6423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2183" cy="629629"/>
            </a:xfrm>
            <a:custGeom>
              <a:avLst/>
              <a:gdLst/>
              <a:ahLst/>
              <a:cxnLst/>
              <a:rect l="l" t="t" r="r" b="b"/>
              <a:pathLst>
                <a:path w="432183" h="629629">
                  <a:moveTo>
                    <a:pt x="432183" y="51531"/>
                  </a:moveTo>
                  <a:lnTo>
                    <a:pt x="432183" y="606889"/>
                  </a:lnTo>
                  <a:cubicBezTo>
                    <a:pt x="432183" y="614633"/>
                    <a:pt x="428242" y="621845"/>
                    <a:pt x="421724" y="626027"/>
                  </a:cubicBezTo>
                  <a:cubicBezTo>
                    <a:pt x="415206" y="630210"/>
                    <a:pt x="407008" y="630787"/>
                    <a:pt x="399968" y="627560"/>
                  </a:cubicBezTo>
                  <a:lnTo>
                    <a:pt x="248307" y="558036"/>
                  </a:lnTo>
                  <a:cubicBezTo>
                    <a:pt x="227854" y="548660"/>
                    <a:pt x="204330" y="548660"/>
                    <a:pt x="183876" y="558036"/>
                  </a:cubicBezTo>
                  <a:lnTo>
                    <a:pt x="32216" y="627560"/>
                  </a:lnTo>
                  <a:cubicBezTo>
                    <a:pt x="25176" y="630787"/>
                    <a:pt x="16977" y="630210"/>
                    <a:pt x="10459" y="626027"/>
                  </a:cubicBezTo>
                  <a:cubicBezTo>
                    <a:pt x="3941" y="621845"/>
                    <a:pt x="0" y="614633"/>
                    <a:pt x="0" y="606889"/>
                  </a:cubicBezTo>
                  <a:lnTo>
                    <a:pt x="0" y="50744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52318"/>
                  </a:cubicBezTo>
                  <a:lnTo>
                    <a:pt x="432183" y="51531"/>
                  </a:lnTo>
                  <a:cubicBezTo>
                    <a:pt x="432183" y="51531"/>
                    <a:pt x="432183" y="51531"/>
                    <a:pt x="432183" y="51531"/>
                  </a:cubicBezTo>
                  <a:close/>
                </a:path>
              </a:pathLst>
            </a:custGeom>
            <a:solidFill>
              <a:srgbClr val="9EB2B0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32183" cy="56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75221" y="1053193"/>
            <a:ext cx="11112779" cy="130796"/>
            <a:chOff x="0" y="0"/>
            <a:chExt cx="2768379" cy="325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68379" cy="32584"/>
            </a:xfrm>
            <a:custGeom>
              <a:avLst/>
              <a:gdLst/>
              <a:ahLst/>
              <a:cxnLst/>
              <a:rect l="l" t="t" r="r" b="b"/>
              <a:pathLst>
                <a:path w="2768379" h="32584">
                  <a:moveTo>
                    <a:pt x="0" y="0"/>
                  </a:moveTo>
                  <a:lnTo>
                    <a:pt x="2768379" y="0"/>
                  </a:lnTo>
                  <a:lnTo>
                    <a:pt x="2768379" y="32584"/>
                  </a:lnTo>
                  <a:lnTo>
                    <a:pt x="0" y="32584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768379" cy="23059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6662194" y="1169463"/>
            <a:ext cx="11625806" cy="1405779"/>
          </a:xfrm>
          <a:custGeom>
            <a:avLst/>
            <a:gdLst/>
            <a:ahLst/>
            <a:cxnLst/>
            <a:rect l="l" t="t" r="r" b="b"/>
            <a:pathLst>
              <a:path w="11625806" h="1405779">
                <a:moveTo>
                  <a:pt x="0" y="0"/>
                </a:moveTo>
                <a:lnTo>
                  <a:pt x="11625806" y="0"/>
                </a:lnTo>
                <a:lnTo>
                  <a:pt x="11625806" y="1405779"/>
                </a:lnTo>
                <a:lnTo>
                  <a:pt x="0" y="140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57" t="-70058" r="-65486" b="-104634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5" name="Freeform 15"/>
          <p:cNvSpPr/>
          <p:nvPr/>
        </p:nvSpPr>
        <p:spPr>
          <a:xfrm>
            <a:off x="5124926" y="-967697"/>
            <a:ext cx="5675030" cy="4024112"/>
          </a:xfrm>
          <a:custGeom>
            <a:avLst/>
            <a:gdLst/>
            <a:ahLst/>
            <a:cxnLst/>
            <a:rect l="l" t="t" r="r" b="b"/>
            <a:pathLst>
              <a:path w="5675030" h="4024112">
                <a:moveTo>
                  <a:pt x="0" y="0"/>
                </a:moveTo>
                <a:lnTo>
                  <a:pt x="5675029" y="0"/>
                </a:lnTo>
                <a:lnTo>
                  <a:pt x="5675029" y="4024112"/>
                </a:lnTo>
                <a:lnTo>
                  <a:pt x="0" y="4024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16" name="Group 16"/>
          <p:cNvGrpSpPr/>
          <p:nvPr/>
        </p:nvGrpSpPr>
        <p:grpSpPr>
          <a:xfrm>
            <a:off x="11161905" y="3612610"/>
            <a:ext cx="2969632" cy="4916944"/>
            <a:chOff x="0" y="0"/>
            <a:chExt cx="432183" cy="7155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2183" cy="702884"/>
            </a:xfrm>
            <a:custGeom>
              <a:avLst/>
              <a:gdLst/>
              <a:ahLst/>
              <a:cxnLst/>
              <a:rect l="l" t="t" r="r" b="b"/>
              <a:pathLst>
                <a:path w="432183" h="702884">
                  <a:moveTo>
                    <a:pt x="432183" y="52571"/>
                  </a:moveTo>
                  <a:lnTo>
                    <a:pt x="432183" y="680145"/>
                  </a:lnTo>
                  <a:cubicBezTo>
                    <a:pt x="432183" y="687889"/>
                    <a:pt x="428242" y="695101"/>
                    <a:pt x="421724" y="699283"/>
                  </a:cubicBezTo>
                  <a:cubicBezTo>
                    <a:pt x="415206" y="703466"/>
                    <a:pt x="407008" y="704043"/>
                    <a:pt x="399968" y="700816"/>
                  </a:cubicBezTo>
                  <a:lnTo>
                    <a:pt x="248307" y="631292"/>
                  </a:lnTo>
                  <a:cubicBezTo>
                    <a:pt x="227854" y="621916"/>
                    <a:pt x="204330" y="621916"/>
                    <a:pt x="183876" y="631292"/>
                  </a:cubicBezTo>
                  <a:lnTo>
                    <a:pt x="32216" y="700816"/>
                  </a:lnTo>
                  <a:cubicBezTo>
                    <a:pt x="25176" y="704043"/>
                    <a:pt x="16977" y="703466"/>
                    <a:pt x="10459" y="699283"/>
                  </a:cubicBezTo>
                  <a:cubicBezTo>
                    <a:pt x="3941" y="695101"/>
                    <a:pt x="0" y="687889"/>
                    <a:pt x="0" y="680145"/>
                  </a:cubicBezTo>
                  <a:lnTo>
                    <a:pt x="0" y="51669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53473"/>
                  </a:cubicBezTo>
                  <a:lnTo>
                    <a:pt x="432183" y="52571"/>
                  </a:lnTo>
                  <a:cubicBezTo>
                    <a:pt x="432183" y="52571"/>
                    <a:pt x="432183" y="52571"/>
                    <a:pt x="432183" y="52571"/>
                  </a:cubicBezTo>
                  <a:close/>
                </a:path>
              </a:pathLst>
            </a:custGeom>
            <a:solidFill>
              <a:srgbClr val="5A457D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32183" cy="635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530789" y="3137217"/>
            <a:ext cx="2969632" cy="4384362"/>
            <a:chOff x="0" y="0"/>
            <a:chExt cx="432183" cy="6380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2183" cy="625375"/>
            </a:xfrm>
            <a:custGeom>
              <a:avLst/>
              <a:gdLst/>
              <a:ahLst/>
              <a:cxnLst/>
              <a:rect l="l" t="t" r="r" b="b"/>
              <a:pathLst>
                <a:path w="432183" h="625375">
                  <a:moveTo>
                    <a:pt x="432183" y="51471"/>
                  </a:moveTo>
                  <a:lnTo>
                    <a:pt x="432183" y="602636"/>
                  </a:lnTo>
                  <a:cubicBezTo>
                    <a:pt x="432183" y="610380"/>
                    <a:pt x="428242" y="617592"/>
                    <a:pt x="421724" y="621774"/>
                  </a:cubicBezTo>
                  <a:cubicBezTo>
                    <a:pt x="415206" y="625957"/>
                    <a:pt x="407008" y="626534"/>
                    <a:pt x="399968" y="623307"/>
                  </a:cubicBezTo>
                  <a:lnTo>
                    <a:pt x="248307" y="553783"/>
                  </a:lnTo>
                  <a:cubicBezTo>
                    <a:pt x="227854" y="544407"/>
                    <a:pt x="204330" y="544407"/>
                    <a:pt x="183876" y="553783"/>
                  </a:cubicBezTo>
                  <a:lnTo>
                    <a:pt x="32216" y="623307"/>
                  </a:lnTo>
                  <a:cubicBezTo>
                    <a:pt x="25176" y="626534"/>
                    <a:pt x="16977" y="625957"/>
                    <a:pt x="10459" y="621774"/>
                  </a:cubicBezTo>
                  <a:cubicBezTo>
                    <a:pt x="3941" y="617592"/>
                    <a:pt x="0" y="610380"/>
                    <a:pt x="0" y="602636"/>
                  </a:cubicBezTo>
                  <a:lnTo>
                    <a:pt x="0" y="50691"/>
                  </a:lnTo>
                  <a:cubicBezTo>
                    <a:pt x="0" y="22860"/>
                    <a:pt x="25931" y="0"/>
                    <a:pt x="56184" y="0"/>
                  </a:cubicBezTo>
                  <a:lnTo>
                    <a:pt x="375999" y="0"/>
                  </a:lnTo>
                  <a:cubicBezTo>
                    <a:pt x="406252" y="0"/>
                    <a:pt x="432183" y="21590"/>
                    <a:pt x="432183" y="52251"/>
                  </a:cubicBezTo>
                  <a:lnTo>
                    <a:pt x="432183" y="51471"/>
                  </a:lnTo>
                  <a:cubicBezTo>
                    <a:pt x="432183" y="51471"/>
                    <a:pt x="432183" y="51471"/>
                    <a:pt x="432183" y="51471"/>
                  </a:cubicBezTo>
                  <a:close/>
                </a:path>
              </a:pathLst>
            </a:custGeom>
            <a:solidFill>
              <a:srgbClr val="C1AC6A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32183" cy="558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95367" y="5649616"/>
            <a:ext cx="1888523" cy="70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7"/>
              </a:lnSpc>
              <a:spcBef>
                <a:spcPct val="0"/>
              </a:spcBef>
            </a:pPr>
            <a:r>
              <a:rPr lang="en-US" sz="3698" b="1">
                <a:solidFill>
                  <a:srgbClr val="6CCD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 1 -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96" y="6087697"/>
            <a:ext cx="1789794" cy="77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716"/>
              </a:lnSpc>
              <a:spcBef>
                <a:spcPct val="0"/>
              </a:spcBef>
            </a:pPr>
            <a:r>
              <a:rPr lang="he-IL" sz="408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התחלתי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9265" y="6898627"/>
            <a:ext cx="2119456" cy="62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168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אינטואיציה ותגובה.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93728" y="6806171"/>
            <a:ext cx="1790529" cy="47625"/>
            <a:chOff x="0" y="0"/>
            <a:chExt cx="446051" cy="118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6051" cy="11864"/>
            </a:xfrm>
            <a:custGeom>
              <a:avLst/>
              <a:gdLst/>
              <a:ahLst/>
              <a:cxnLst/>
              <a:rect l="l" t="t" r="r" b="b"/>
              <a:pathLst>
                <a:path w="446051" h="11864">
                  <a:moveTo>
                    <a:pt x="0" y="0"/>
                  </a:moveTo>
                  <a:lnTo>
                    <a:pt x="446051" y="0"/>
                  </a:lnTo>
                  <a:lnTo>
                    <a:pt x="446051" y="11864"/>
                  </a:lnTo>
                  <a:lnTo>
                    <a:pt x="0" y="11864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446051" cy="2339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949298" y="5059254"/>
            <a:ext cx="1888523" cy="70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7"/>
              </a:lnSpc>
              <a:spcBef>
                <a:spcPct val="0"/>
              </a:spcBef>
            </a:pPr>
            <a:r>
              <a:rPr lang="en-US" sz="3698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 2 -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98663" y="5422934"/>
            <a:ext cx="1789794" cy="77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716"/>
              </a:lnSpc>
              <a:spcBef>
                <a:spcPct val="0"/>
              </a:spcBef>
            </a:pPr>
            <a:r>
              <a:rPr lang="he-IL" sz="408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מתהווה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4926" y="6224338"/>
            <a:ext cx="1537268" cy="102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86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תהליכים</a:t>
            </a:r>
          </a:p>
          <a:p>
            <a:pPr algn="ctr" rtl="1">
              <a:lnSpc>
                <a:spcPts val="2486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בהתהוות,</a:t>
            </a:r>
          </a:p>
          <a:p>
            <a:pPr algn="ctr" rtl="1">
              <a:lnSpc>
                <a:spcPts val="2486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ללא בקרה.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998295" y="6137805"/>
            <a:ext cx="1790529" cy="47625"/>
            <a:chOff x="0" y="0"/>
            <a:chExt cx="446051" cy="118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46051" cy="11864"/>
            </a:xfrm>
            <a:custGeom>
              <a:avLst/>
              <a:gdLst/>
              <a:ahLst/>
              <a:cxnLst/>
              <a:rect l="l" t="t" r="r" b="b"/>
              <a:pathLst>
                <a:path w="446051" h="11864">
                  <a:moveTo>
                    <a:pt x="0" y="0"/>
                  </a:moveTo>
                  <a:lnTo>
                    <a:pt x="446051" y="0"/>
                  </a:lnTo>
                  <a:lnTo>
                    <a:pt x="446051" y="11864"/>
                  </a:lnTo>
                  <a:lnTo>
                    <a:pt x="0" y="11864"/>
                  </a:lnTo>
                  <a:close/>
                </a:path>
              </a:pathLst>
            </a:custGeom>
            <a:solidFill>
              <a:srgbClr val="45077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446051" cy="2339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02370" y="4173983"/>
            <a:ext cx="2488703" cy="1895499"/>
            <a:chOff x="0" y="0"/>
            <a:chExt cx="3318271" cy="2527332"/>
          </a:xfrm>
        </p:grpSpPr>
        <p:sp>
          <p:nvSpPr>
            <p:cNvPr id="35" name="TextBox 35"/>
            <p:cNvSpPr txBox="1"/>
            <p:nvPr/>
          </p:nvSpPr>
          <p:spPr>
            <a:xfrm>
              <a:off x="179194" y="-142875"/>
              <a:ext cx="2518030" cy="893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7"/>
                </a:lnSpc>
                <a:spcBef>
                  <a:spcPct val="0"/>
                </a:spcBef>
              </a:pPr>
              <a:r>
                <a:rPr lang="en-US" sz="3698" b="1">
                  <a:solidFill>
                    <a:srgbClr val="6CCD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 4 -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637" y="415851"/>
              <a:ext cx="2386392" cy="976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5716"/>
                </a:lnSpc>
                <a:spcBef>
                  <a:spcPct val="0"/>
                </a:spcBef>
              </a:pPr>
              <a:r>
                <a:rPr lang="he-IL" sz="408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מתקדמת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1572650"/>
              <a:ext cx="3318271" cy="954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414"/>
                </a:lnSpc>
              </a:pPr>
              <a:r>
                <a:rPr lang="he-IL" sz="294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/>
                </a:rPr>
                <a:t>ניהול מבוסס מדידה ולמידה.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79194" y="1405195"/>
              <a:ext cx="3024071" cy="63500"/>
              <a:chOff x="0" y="0"/>
              <a:chExt cx="565010" cy="1186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65010" cy="11864"/>
              </a:xfrm>
              <a:custGeom>
                <a:avLst/>
                <a:gdLst/>
                <a:ahLst/>
                <a:cxnLst/>
                <a:rect l="l" t="t" r="r" b="b"/>
                <a:pathLst>
                  <a:path w="565010" h="11864">
                    <a:moveTo>
                      <a:pt x="0" y="0"/>
                    </a:moveTo>
                    <a:lnTo>
                      <a:pt x="565010" y="0"/>
                    </a:lnTo>
                    <a:lnTo>
                      <a:pt x="565010" y="11864"/>
                    </a:lnTo>
                    <a:lnTo>
                      <a:pt x="0" y="11864"/>
                    </a:lnTo>
                    <a:close/>
                  </a:path>
                </a:pathLst>
              </a:custGeom>
              <a:solidFill>
                <a:srgbClr val="6CCDDC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9525"/>
                <a:ext cx="565010" cy="2339"/>
              </a:xfrm>
              <a:prstGeom prst="rect">
                <a:avLst/>
              </a:prstGeom>
            </p:spPr>
            <p:txBody>
              <a:bodyPr lIns="53707" tIns="53707" rIns="53707" bIns="53707" rtlCol="0" anchor="ctr"/>
              <a:lstStyle/>
              <a:p>
                <a:pPr algn="ctr">
                  <a:lnSpc>
                    <a:spcPts val="2486"/>
                  </a:lnSpc>
                </a:pPr>
                <a:endParaRPr/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15023835" y="3650710"/>
            <a:ext cx="2038023" cy="2199828"/>
            <a:chOff x="0" y="0"/>
            <a:chExt cx="2717364" cy="2933104"/>
          </a:xfrm>
        </p:grpSpPr>
        <p:sp>
          <p:nvSpPr>
            <p:cNvPr id="42" name="TextBox 42"/>
            <p:cNvSpPr txBox="1"/>
            <p:nvPr/>
          </p:nvSpPr>
          <p:spPr>
            <a:xfrm>
              <a:off x="0" y="1572022"/>
              <a:ext cx="2717364" cy="1361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414"/>
                </a:lnSpc>
              </a:pPr>
              <a:r>
                <a:rPr lang="he-IL" sz="294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/>
                </a:rPr>
                <a:t>מנבא, יוזם</a:t>
              </a:r>
            </a:p>
            <a:p>
              <a:pPr algn="ctr" rtl="1">
                <a:lnSpc>
                  <a:spcPts val="2414"/>
                </a:lnSpc>
              </a:pPr>
              <a:r>
                <a:rPr lang="he-IL" sz="294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/>
                </a:rPr>
                <a:t>ומהווה מודל</a:t>
              </a:r>
            </a:p>
            <a:p>
              <a:pPr algn="ctr" rtl="1">
                <a:lnSpc>
                  <a:spcPts val="2414"/>
                </a:lnSpc>
              </a:pPr>
              <a:r>
                <a:rPr lang="he-IL" sz="294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rtl/>
                </a:rPr>
                <a:t>השראה.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366306"/>
              <a:ext cx="2594230" cy="1056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6214"/>
                </a:lnSpc>
                <a:spcBef>
                  <a:spcPct val="0"/>
                </a:spcBef>
              </a:pPr>
              <a:r>
                <a:rPr lang="he-IL" sz="443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מצטיין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-142875"/>
              <a:ext cx="2518030" cy="8861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7"/>
                </a:lnSpc>
                <a:spcBef>
                  <a:spcPct val="0"/>
                </a:spcBef>
              </a:pPr>
              <a:r>
                <a:rPr lang="en-US" sz="3698" b="1">
                  <a:solidFill>
                    <a:srgbClr val="0630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 5 -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6200" y="1388829"/>
              <a:ext cx="2374286" cy="65023"/>
              <a:chOff x="0" y="0"/>
              <a:chExt cx="443606" cy="1214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43606" cy="12149"/>
              </a:xfrm>
              <a:custGeom>
                <a:avLst/>
                <a:gdLst/>
                <a:ahLst/>
                <a:cxnLst/>
                <a:rect l="l" t="t" r="r" b="b"/>
                <a:pathLst>
                  <a:path w="443606" h="12149">
                    <a:moveTo>
                      <a:pt x="0" y="0"/>
                    </a:moveTo>
                    <a:lnTo>
                      <a:pt x="443606" y="0"/>
                    </a:lnTo>
                    <a:lnTo>
                      <a:pt x="443606" y="12149"/>
                    </a:lnTo>
                    <a:lnTo>
                      <a:pt x="0" y="12149"/>
                    </a:lnTo>
                    <a:close/>
                  </a:path>
                </a:pathLst>
              </a:custGeom>
              <a:solidFill>
                <a:srgbClr val="45077C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9525"/>
                <a:ext cx="443606" cy="2624"/>
              </a:xfrm>
              <a:prstGeom prst="rect">
                <a:avLst/>
              </a:prstGeom>
            </p:spPr>
            <p:txBody>
              <a:bodyPr lIns="53707" tIns="53707" rIns="53707" bIns="53707" rtlCol="0" anchor="ctr"/>
              <a:lstStyle/>
              <a:p>
                <a:pPr algn="ctr">
                  <a:lnSpc>
                    <a:spcPts val="2486"/>
                  </a:lnSpc>
                </a:pPr>
                <a:endParaRPr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8090537" y="6147330"/>
            <a:ext cx="2488703" cy="70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86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שגרה יציבה</a:t>
            </a:r>
          </a:p>
          <a:p>
            <a:pPr algn="ctr" rtl="1">
              <a:lnSpc>
                <a:spcPts val="2486"/>
              </a:lnSpc>
            </a:pPr>
            <a:r>
              <a:rPr lang="he-IL" sz="264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ומוטמעת.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09677" y="4516215"/>
            <a:ext cx="1888523" cy="70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7"/>
              </a:lnSpc>
              <a:spcBef>
                <a:spcPct val="0"/>
              </a:spcBef>
            </a:pPr>
            <a:r>
              <a:rPr lang="en-US" sz="3698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 3 -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82408" y="5138641"/>
            <a:ext cx="2811564" cy="96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348"/>
              </a:lnSpc>
            </a:pPr>
            <a:r>
              <a:rPr lang="he-IL" sz="408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מוטמע</a:t>
            </a:r>
          </a:p>
          <a:p>
            <a:pPr algn="ctr" rtl="1">
              <a:lnSpc>
                <a:spcPts val="3348"/>
              </a:lnSpc>
            </a:pPr>
            <a:r>
              <a:rPr lang="he-IL" sz="408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באופן עקבי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237996" y="6083419"/>
            <a:ext cx="2165429" cy="47625"/>
            <a:chOff x="0" y="0"/>
            <a:chExt cx="539445" cy="1186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9445" cy="11864"/>
            </a:xfrm>
            <a:custGeom>
              <a:avLst/>
              <a:gdLst/>
              <a:ahLst/>
              <a:cxnLst/>
              <a:rect l="l" t="t" r="r" b="b"/>
              <a:pathLst>
                <a:path w="539445" h="11864">
                  <a:moveTo>
                    <a:pt x="0" y="0"/>
                  </a:moveTo>
                  <a:lnTo>
                    <a:pt x="539445" y="0"/>
                  </a:lnTo>
                  <a:lnTo>
                    <a:pt x="539445" y="11864"/>
                  </a:lnTo>
                  <a:lnTo>
                    <a:pt x="0" y="11864"/>
                  </a:lnTo>
                  <a:close/>
                </a:path>
              </a:pathLst>
            </a:custGeom>
            <a:solidFill>
              <a:srgbClr val="45077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539445" cy="2339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973102" y="6267015"/>
            <a:ext cx="2124630" cy="2124630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9193" tIns="59193" rIns="59193" bIns="59193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14795523" y="6069482"/>
            <a:ext cx="2513698" cy="3559218"/>
          </a:xfrm>
          <a:custGeom>
            <a:avLst/>
            <a:gdLst/>
            <a:ahLst/>
            <a:cxnLst/>
            <a:rect l="l" t="t" r="r" b="b"/>
            <a:pathLst>
              <a:path w="2513698" h="3559218">
                <a:moveTo>
                  <a:pt x="0" y="0"/>
                </a:moveTo>
                <a:lnTo>
                  <a:pt x="2513697" y="0"/>
                </a:lnTo>
                <a:lnTo>
                  <a:pt x="2513697" y="3559218"/>
                </a:lnTo>
                <a:lnTo>
                  <a:pt x="0" y="355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58" name="Group 58"/>
          <p:cNvGrpSpPr/>
          <p:nvPr/>
        </p:nvGrpSpPr>
        <p:grpSpPr>
          <a:xfrm>
            <a:off x="3952979" y="9030780"/>
            <a:ext cx="10382042" cy="455039"/>
            <a:chOff x="0" y="0"/>
            <a:chExt cx="2517736" cy="11035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517736" cy="110351"/>
            </a:xfrm>
            <a:custGeom>
              <a:avLst/>
              <a:gdLst/>
              <a:ahLst/>
              <a:cxnLst/>
              <a:rect l="l" t="t" r="r" b="b"/>
              <a:pathLst>
                <a:path w="2517736" h="110351">
                  <a:moveTo>
                    <a:pt x="0" y="0"/>
                  </a:moveTo>
                  <a:lnTo>
                    <a:pt x="2517736" y="0"/>
                  </a:lnTo>
                  <a:lnTo>
                    <a:pt x="2517736" y="110351"/>
                  </a:lnTo>
                  <a:lnTo>
                    <a:pt x="0" y="110351"/>
                  </a:lnTo>
                  <a:close/>
                </a:path>
              </a:pathLst>
            </a:custGeom>
            <a:solidFill>
              <a:srgbClr val="06306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9525"/>
              <a:ext cx="2517736" cy="100826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4146127" y="9021958"/>
            <a:ext cx="10009657" cy="46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340"/>
              </a:lnSpc>
              <a:spcBef>
                <a:spcPct val="0"/>
              </a:spcBef>
            </a:pPr>
            <a:r>
              <a:rPr lang="he-IL" sz="238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מבוסס על עקרונות המודל האירופי למצוינות (</a:t>
            </a:r>
            <a:r>
              <a:rPr lang="en-US" sz="238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EFQM</a:t>
            </a:r>
            <a:r>
              <a:rPr lang="he-IL" sz="238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)בהתאמה לחינוך הציבורי בישראל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524028" y="1286839"/>
            <a:ext cx="7352912" cy="85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128"/>
              </a:lnSpc>
              <a:spcBef>
                <a:spcPct val="0"/>
              </a:spcBef>
            </a:pPr>
            <a:r>
              <a:rPr lang="he-IL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סולם הבשלות הארגונית (</a:t>
            </a:r>
            <a:r>
              <a:rPr lang="en-US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1-5</a:t>
            </a:r>
            <a:r>
              <a:rPr lang="ar-EG" sz="509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8288000" cy="3300123"/>
          </a:xfrm>
          <a:custGeom>
            <a:avLst/>
            <a:gdLst/>
            <a:ahLst/>
            <a:cxnLst/>
            <a:rect l="l" t="t" r="r" b="b"/>
            <a:pathLst>
              <a:path w="18288000" h="3300123">
                <a:moveTo>
                  <a:pt x="0" y="0"/>
                </a:moveTo>
                <a:lnTo>
                  <a:pt x="18288000" y="0"/>
                </a:lnTo>
                <a:lnTo>
                  <a:pt x="18288000" y="3300123"/>
                </a:lnTo>
                <a:lnTo>
                  <a:pt x="0" y="3300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72" t="-31776" r="-35046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" name="TextBox 3"/>
          <p:cNvSpPr txBox="1"/>
          <p:nvPr/>
        </p:nvSpPr>
        <p:spPr>
          <a:xfrm>
            <a:off x="5734310" y="522032"/>
            <a:ext cx="7026679" cy="986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8175"/>
              </a:lnSpc>
              <a:spcBef>
                <a:spcPct val="0"/>
              </a:spcBef>
            </a:pPr>
            <a:r>
              <a:rPr lang="he-IL" sz="583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רמות ההסמכה לתו התקן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2910845"/>
            <a:ext cx="18288000" cy="133387"/>
            <a:chOff x="0" y="0"/>
            <a:chExt cx="4555847" cy="332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55847" cy="33229"/>
            </a:xfrm>
            <a:custGeom>
              <a:avLst/>
              <a:gdLst/>
              <a:ahLst/>
              <a:cxnLst/>
              <a:rect l="l" t="t" r="r" b="b"/>
              <a:pathLst>
                <a:path w="4555847" h="33229">
                  <a:moveTo>
                    <a:pt x="0" y="0"/>
                  </a:moveTo>
                  <a:lnTo>
                    <a:pt x="4555847" y="0"/>
                  </a:lnTo>
                  <a:lnTo>
                    <a:pt x="4555847" y="33229"/>
                  </a:lnTo>
                  <a:lnTo>
                    <a:pt x="0" y="33229"/>
                  </a:lnTo>
                  <a:close/>
                </a:path>
              </a:pathLst>
            </a:custGeom>
            <a:solidFill>
              <a:srgbClr val="6CCDDC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4555847" cy="23704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210538" y="1860764"/>
            <a:ext cx="4124343" cy="5551555"/>
          </a:xfrm>
          <a:custGeom>
            <a:avLst/>
            <a:gdLst/>
            <a:ahLst/>
            <a:cxnLst/>
            <a:rect l="l" t="t" r="r" b="b"/>
            <a:pathLst>
              <a:path w="4124343" h="5551555">
                <a:moveTo>
                  <a:pt x="0" y="0"/>
                </a:moveTo>
                <a:lnTo>
                  <a:pt x="4124343" y="0"/>
                </a:lnTo>
                <a:lnTo>
                  <a:pt x="4124343" y="5551555"/>
                </a:lnTo>
                <a:lnTo>
                  <a:pt x="0" y="5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8" name="Freeform 8"/>
          <p:cNvSpPr/>
          <p:nvPr/>
        </p:nvSpPr>
        <p:spPr>
          <a:xfrm>
            <a:off x="7250120" y="1860764"/>
            <a:ext cx="4124343" cy="5551555"/>
          </a:xfrm>
          <a:custGeom>
            <a:avLst/>
            <a:gdLst/>
            <a:ahLst/>
            <a:cxnLst/>
            <a:rect l="l" t="t" r="r" b="b"/>
            <a:pathLst>
              <a:path w="4124343" h="5551555">
                <a:moveTo>
                  <a:pt x="0" y="0"/>
                </a:moveTo>
                <a:lnTo>
                  <a:pt x="4124343" y="0"/>
                </a:lnTo>
                <a:lnTo>
                  <a:pt x="4124343" y="5551555"/>
                </a:lnTo>
                <a:lnTo>
                  <a:pt x="0" y="5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9" name="Freeform 9"/>
          <p:cNvSpPr/>
          <p:nvPr/>
        </p:nvSpPr>
        <p:spPr>
          <a:xfrm>
            <a:off x="12691736" y="2910845"/>
            <a:ext cx="3369174" cy="1490604"/>
          </a:xfrm>
          <a:custGeom>
            <a:avLst/>
            <a:gdLst/>
            <a:ahLst/>
            <a:cxnLst/>
            <a:rect l="l" t="t" r="r" b="b"/>
            <a:pathLst>
              <a:path w="3369174" h="1490604">
                <a:moveTo>
                  <a:pt x="0" y="0"/>
                </a:moveTo>
                <a:lnTo>
                  <a:pt x="3369174" y="0"/>
                </a:lnTo>
                <a:lnTo>
                  <a:pt x="3369174" y="1490605"/>
                </a:lnTo>
                <a:lnTo>
                  <a:pt x="0" y="1490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0" name="Freeform 10"/>
          <p:cNvSpPr/>
          <p:nvPr/>
        </p:nvSpPr>
        <p:spPr>
          <a:xfrm>
            <a:off x="7731318" y="2910845"/>
            <a:ext cx="3369174" cy="1490604"/>
          </a:xfrm>
          <a:custGeom>
            <a:avLst/>
            <a:gdLst/>
            <a:ahLst/>
            <a:cxnLst/>
            <a:rect l="l" t="t" r="r" b="b"/>
            <a:pathLst>
              <a:path w="3369174" h="1490604">
                <a:moveTo>
                  <a:pt x="0" y="0"/>
                </a:moveTo>
                <a:lnTo>
                  <a:pt x="3369174" y="0"/>
                </a:lnTo>
                <a:lnTo>
                  <a:pt x="3369174" y="1490605"/>
                </a:lnTo>
                <a:lnTo>
                  <a:pt x="0" y="1490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1" name="Freeform 11"/>
          <p:cNvSpPr/>
          <p:nvPr/>
        </p:nvSpPr>
        <p:spPr>
          <a:xfrm>
            <a:off x="14033099" y="4501760"/>
            <a:ext cx="686448" cy="656764"/>
          </a:xfrm>
          <a:custGeom>
            <a:avLst/>
            <a:gdLst/>
            <a:ahLst/>
            <a:cxnLst/>
            <a:rect l="l" t="t" r="r" b="b"/>
            <a:pathLst>
              <a:path w="686448" h="656764">
                <a:moveTo>
                  <a:pt x="0" y="0"/>
                </a:moveTo>
                <a:lnTo>
                  <a:pt x="686448" y="0"/>
                </a:lnTo>
                <a:lnTo>
                  <a:pt x="686448" y="656764"/>
                </a:lnTo>
                <a:lnTo>
                  <a:pt x="0" y="656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2" name="Freeform 12"/>
          <p:cNvSpPr/>
          <p:nvPr/>
        </p:nvSpPr>
        <p:spPr>
          <a:xfrm>
            <a:off x="9072681" y="4501760"/>
            <a:ext cx="686448" cy="656764"/>
          </a:xfrm>
          <a:custGeom>
            <a:avLst/>
            <a:gdLst/>
            <a:ahLst/>
            <a:cxnLst/>
            <a:rect l="l" t="t" r="r" b="b"/>
            <a:pathLst>
              <a:path w="686448" h="656764">
                <a:moveTo>
                  <a:pt x="0" y="0"/>
                </a:moveTo>
                <a:lnTo>
                  <a:pt x="686448" y="0"/>
                </a:lnTo>
                <a:lnTo>
                  <a:pt x="686448" y="656764"/>
                </a:lnTo>
                <a:lnTo>
                  <a:pt x="0" y="656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3" name="Freeform 13"/>
          <p:cNvSpPr/>
          <p:nvPr/>
        </p:nvSpPr>
        <p:spPr>
          <a:xfrm>
            <a:off x="2289702" y="1860764"/>
            <a:ext cx="4124343" cy="5551555"/>
          </a:xfrm>
          <a:custGeom>
            <a:avLst/>
            <a:gdLst/>
            <a:ahLst/>
            <a:cxnLst/>
            <a:rect l="l" t="t" r="r" b="b"/>
            <a:pathLst>
              <a:path w="4124343" h="5551555">
                <a:moveTo>
                  <a:pt x="0" y="0"/>
                </a:moveTo>
                <a:lnTo>
                  <a:pt x="4124343" y="0"/>
                </a:lnTo>
                <a:lnTo>
                  <a:pt x="4124343" y="5551555"/>
                </a:lnTo>
                <a:lnTo>
                  <a:pt x="0" y="5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4" name="Freeform 14"/>
          <p:cNvSpPr/>
          <p:nvPr/>
        </p:nvSpPr>
        <p:spPr>
          <a:xfrm>
            <a:off x="2525806" y="2137559"/>
            <a:ext cx="3616598" cy="3616598"/>
          </a:xfrm>
          <a:custGeom>
            <a:avLst/>
            <a:gdLst/>
            <a:ahLst/>
            <a:cxnLst/>
            <a:rect l="l" t="t" r="r" b="b"/>
            <a:pathLst>
              <a:path w="3616598" h="3616598">
                <a:moveTo>
                  <a:pt x="0" y="0"/>
                </a:moveTo>
                <a:lnTo>
                  <a:pt x="3616598" y="0"/>
                </a:lnTo>
                <a:lnTo>
                  <a:pt x="3616598" y="3616598"/>
                </a:lnTo>
                <a:lnTo>
                  <a:pt x="0" y="36165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5" name="Freeform 15"/>
          <p:cNvSpPr/>
          <p:nvPr/>
        </p:nvSpPr>
        <p:spPr>
          <a:xfrm>
            <a:off x="2808767" y="2910845"/>
            <a:ext cx="3369174" cy="1490604"/>
          </a:xfrm>
          <a:custGeom>
            <a:avLst/>
            <a:gdLst/>
            <a:ahLst/>
            <a:cxnLst/>
            <a:rect l="l" t="t" r="r" b="b"/>
            <a:pathLst>
              <a:path w="3369174" h="1490604">
                <a:moveTo>
                  <a:pt x="0" y="0"/>
                </a:moveTo>
                <a:lnTo>
                  <a:pt x="3369174" y="0"/>
                </a:lnTo>
                <a:lnTo>
                  <a:pt x="3369174" y="1490605"/>
                </a:lnTo>
                <a:lnTo>
                  <a:pt x="0" y="1490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6" name="Freeform 16"/>
          <p:cNvSpPr/>
          <p:nvPr/>
        </p:nvSpPr>
        <p:spPr>
          <a:xfrm>
            <a:off x="4008649" y="4472329"/>
            <a:ext cx="686448" cy="656764"/>
          </a:xfrm>
          <a:custGeom>
            <a:avLst/>
            <a:gdLst/>
            <a:ahLst/>
            <a:cxnLst/>
            <a:rect l="l" t="t" r="r" b="b"/>
            <a:pathLst>
              <a:path w="686448" h="656764">
                <a:moveTo>
                  <a:pt x="0" y="0"/>
                </a:moveTo>
                <a:lnTo>
                  <a:pt x="686449" y="0"/>
                </a:lnTo>
                <a:lnTo>
                  <a:pt x="686449" y="656764"/>
                </a:lnTo>
                <a:lnTo>
                  <a:pt x="0" y="656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17" name="Group 17"/>
          <p:cNvGrpSpPr/>
          <p:nvPr/>
        </p:nvGrpSpPr>
        <p:grpSpPr>
          <a:xfrm>
            <a:off x="2378635" y="7835013"/>
            <a:ext cx="13956246" cy="1112111"/>
            <a:chOff x="0" y="-57647"/>
            <a:chExt cx="18608328" cy="1482814"/>
          </a:xfrm>
        </p:grpSpPr>
        <p:grpSp>
          <p:nvGrpSpPr>
            <p:cNvPr id="18" name="Group 18"/>
            <p:cNvGrpSpPr/>
            <p:nvPr/>
          </p:nvGrpSpPr>
          <p:grpSpPr>
            <a:xfrm>
              <a:off x="6602417" y="0"/>
              <a:ext cx="5244195" cy="719546"/>
              <a:chOff x="0" y="0"/>
              <a:chExt cx="979813" cy="1344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79812" cy="134438"/>
              </a:xfrm>
              <a:custGeom>
                <a:avLst/>
                <a:gdLst/>
                <a:ahLst/>
                <a:cxnLst/>
                <a:rect l="l" t="t" r="r" b="b"/>
                <a:pathLst>
                  <a:path w="979812" h="134438">
                    <a:moveTo>
                      <a:pt x="0" y="0"/>
                    </a:moveTo>
                    <a:lnTo>
                      <a:pt x="979812" y="0"/>
                    </a:lnTo>
                    <a:lnTo>
                      <a:pt x="979812" y="134438"/>
                    </a:lnTo>
                    <a:lnTo>
                      <a:pt x="0" y="134438"/>
                    </a:lnTo>
                    <a:close/>
                  </a:path>
                </a:pathLst>
              </a:custGeom>
              <a:solidFill>
                <a:srgbClr val="AEAEAE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9525"/>
                <a:ext cx="979813" cy="124913"/>
              </a:xfrm>
              <a:prstGeom prst="rect">
                <a:avLst/>
              </a:prstGeom>
            </p:spPr>
            <p:txBody>
              <a:bodyPr lIns="53707" tIns="53707" rIns="53707" bIns="53707" rtlCol="0" anchor="ctr"/>
              <a:lstStyle/>
              <a:p>
                <a:pPr algn="ctr">
                  <a:lnSpc>
                    <a:spcPts val="2486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5244195" cy="719546"/>
              <a:chOff x="0" y="0"/>
              <a:chExt cx="979813" cy="1344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79812" cy="134438"/>
              </a:xfrm>
              <a:custGeom>
                <a:avLst/>
                <a:gdLst/>
                <a:ahLst/>
                <a:cxnLst/>
                <a:rect l="l" t="t" r="r" b="b"/>
                <a:pathLst>
                  <a:path w="979812" h="134438">
                    <a:moveTo>
                      <a:pt x="0" y="0"/>
                    </a:moveTo>
                    <a:lnTo>
                      <a:pt x="979812" y="0"/>
                    </a:lnTo>
                    <a:lnTo>
                      <a:pt x="979812" y="134438"/>
                    </a:lnTo>
                    <a:lnTo>
                      <a:pt x="0" y="134438"/>
                    </a:lnTo>
                    <a:close/>
                  </a:path>
                </a:pathLst>
              </a:custGeom>
              <a:solidFill>
                <a:srgbClr val="D9A691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9525"/>
                <a:ext cx="979813" cy="124913"/>
              </a:xfrm>
              <a:prstGeom prst="rect">
                <a:avLst/>
              </a:prstGeom>
            </p:spPr>
            <p:txBody>
              <a:bodyPr lIns="53707" tIns="53707" rIns="53707" bIns="53707" rtlCol="0" anchor="ctr"/>
              <a:lstStyle/>
              <a:p>
                <a:pPr algn="ctr">
                  <a:lnSpc>
                    <a:spcPts val="2486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277833" y="-57647"/>
              <a:ext cx="4181052" cy="14828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rtl="1">
                <a:lnSpc>
                  <a:spcPts val="4321"/>
                </a:lnSpc>
                <a:spcBef>
                  <a:spcPct val="0"/>
                </a:spcBef>
              </a:pPr>
              <a:r>
                <a:rPr lang="he-IL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כסף ציון כולל: </a:t>
              </a:r>
              <a:r>
                <a:rPr lang="en-US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80-89</a:t>
              </a:r>
            </a:p>
            <a:p>
              <a:pPr algn="ctr" rtl="1">
                <a:lnSpc>
                  <a:spcPts val="4321"/>
                </a:lnSpc>
                <a:spcBef>
                  <a:spcPct val="0"/>
                </a:spcBef>
              </a:pPr>
              <a:endParaRPr lang="en-US" sz="308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8305" y="-57646"/>
              <a:ext cx="4058864" cy="14828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rtl="1">
                <a:lnSpc>
                  <a:spcPts val="4321"/>
                </a:lnSpc>
                <a:spcBef>
                  <a:spcPct val="0"/>
                </a:spcBef>
              </a:pPr>
              <a:r>
                <a:rPr lang="he-IL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ארד ציון כולל: </a:t>
              </a:r>
              <a:r>
                <a:rPr lang="en-US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70-79</a:t>
              </a:r>
            </a:p>
            <a:p>
              <a:pPr algn="ctr" rtl="1">
                <a:lnSpc>
                  <a:spcPts val="4321"/>
                </a:lnSpc>
                <a:spcBef>
                  <a:spcPct val="0"/>
                </a:spcBef>
              </a:pPr>
              <a:endParaRPr lang="en-US" sz="308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3364133" y="0"/>
              <a:ext cx="5244195" cy="719546"/>
              <a:chOff x="0" y="0"/>
              <a:chExt cx="979813" cy="1344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79812" cy="134438"/>
              </a:xfrm>
              <a:custGeom>
                <a:avLst/>
                <a:gdLst/>
                <a:ahLst/>
                <a:cxnLst/>
                <a:rect l="l" t="t" r="r" b="b"/>
                <a:pathLst>
                  <a:path w="979812" h="134438">
                    <a:moveTo>
                      <a:pt x="0" y="0"/>
                    </a:moveTo>
                    <a:lnTo>
                      <a:pt x="979812" y="0"/>
                    </a:lnTo>
                    <a:lnTo>
                      <a:pt x="979812" y="134438"/>
                    </a:lnTo>
                    <a:lnTo>
                      <a:pt x="0" y="134438"/>
                    </a:lnTo>
                    <a:close/>
                  </a:path>
                </a:pathLst>
              </a:custGeom>
              <a:solidFill>
                <a:srgbClr val="E4CF90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9525"/>
                <a:ext cx="979813" cy="124913"/>
              </a:xfrm>
              <a:prstGeom prst="rect">
                <a:avLst/>
              </a:prstGeom>
            </p:spPr>
            <p:txBody>
              <a:bodyPr lIns="53707" tIns="53707" rIns="53707" bIns="53707" rtlCol="0" anchor="ctr"/>
              <a:lstStyle/>
              <a:p>
                <a:pPr algn="ctr">
                  <a:lnSpc>
                    <a:spcPts val="2486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3843138" y="-38194"/>
              <a:ext cx="4307557" cy="751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321"/>
                </a:lnSpc>
                <a:spcBef>
                  <a:spcPct val="0"/>
                </a:spcBef>
              </a:pPr>
              <a:r>
                <a:rPr lang="he-IL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זהב ציון כולל: </a:t>
              </a:r>
              <a:r>
                <a:rPr lang="en-US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90-100</a:t>
              </a:r>
              <a:r>
                <a:rPr lang="ar-EG" sz="308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rtl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3045" y="2518348"/>
            <a:ext cx="14317617" cy="5853368"/>
            <a:chOff x="0" y="0"/>
            <a:chExt cx="2879526" cy="1177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9526" cy="1177216"/>
            </a:xfrm>
            <a:custGeom>
              <a:avLst/>
              <a:gdLst/>
              <a:ahLst/>
              <a:cxnLst/>
              <a:rect l="l" t="t" r="r" b="b"/>
              <a:pathLst>
                <a:path w="2879526" h="1177216">
                  <a:moveTo>
                    <a:pt x="0" y="0"/>
                  </a:moveTo>
                  <a:lnTo>
                    <a:pt x="2879526" y="0"/>
                  </a:lnTo>
                  <a:lnTo>
                    <a:pt x="2879526" y="1177216"/>
                  </a:lnTo>
                  <a:lnTo>
                    <a:pt x="0" y="1177216"/>
                  </a:lnTo>
                  <a:close/>
                </a:path>
              </a:pathLst>
            </a:custGeom>
            <a:ln w="38100" cap="sq">
              <a:gradFill>
                <a:gsLst>
                  <a:gs pos="0">
                    <a:srgbClr val="C39348">
                      <a:alpha val="100000"/>
                    </a:srgbClr>
                  </a:gs>
                  <a:gs pos="50000">
                    <a:srgbClr val="FFDAA0">
                      <a:alpha val="100000"/>
                    </a:srgbClr>
                  </a:gs>
                  <a:gs pos="100000">
                    <a:srgbClr val="C3934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879526" cy="1205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1076150" y="8781606"/>
            <a:ext cx="13744635" cy="8229600"/>
          </a:xfrm>
          <a:custGeom>
            <a:avLst/>
            <a:gdLst/>
            <a:ahLst/>
            <a:cxnLst/>
            <a:rect l="l" t="t" r="r" b="b"/>
            <a:pathLst>
              <a:path w="13744635" h="8229600">
                <a:moveTo>
                  <a:pt x="0" y="0"/>
                </a:moveTo>
                <a:lnTo>
                  <a:pt x="13744634" y="0"/>
                </a:lnTo>
                <a:lnTo>
                  <a:pt x="137446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" name="Group 6"/>
          <p:cNvGrpSpPr/>
          <p:nvPr/>
        </p:nvGrpSpPr>
        <p:grpSpPr>
          <a:xfrm>
            <a:off x="5892142" y="1804554"/>
            <a:ext cx="10247260" cy="1044527"/>
            <a:chOff x="0" y="0"/>
            <a:chExt cx="2552764" cy="260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2764" cy="260209"/>
            </a:xfrm>
            <a:custGeom>
              <a:avLst/>
              <a:gdLst/>
              <a:ahLst/>
              <a:cxnLst/>
              <a:rect l="l" t="t" r="r" b="b"/>
              <a:pathLst>
                <a:path w="2552764" h="260209">
                  <a:moveTo>
                    <a:pt x="0" y="0"/>
                  </a:moveTo>
                  <a:lnTo>
                    <a:pt x="2552764" y="0"/>
                  </a:lnTo>
                  <a:lnTo>
                    <a:pt x="2552764" y="260209"/>
                  </a:lnTo>
                  <a:lnTo>
                    <a:pt x="0" y="260209"/>
                  </a:lnTo>
                  <a:close/>
                </a:path>
              </a:pathLst>
            </a:custGeom>
            <a:solidFill>
              <a:srgbClr val="CFBA79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552764" cy="250684"/>
            </a:xfrm>
            <a:prstGeom prst="rect">
              <a:avLst/>
            </a:prstGeom>
          </p:spPr>
          <p:txBody>
            <a:bodyPr lIns="53707" tIns="53707" rIns="53707" bIns="53707" rtlCol="0" anchor="ctr"/>
            <a:lstStyle/>
            <a:p>
              <a:pPr algn="ctr">
                <a:lnSpc>
                  <a:spcPts val="24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102023" y="1321805"/>
            <a:ext cx="2157277" cy="3054552"/>
            <a:chOff x="0" y="0"/>
            <a:chExt cx="2876369" cy="4072735"/>
          </a:xfrm>
        </p:grpSpPr>
        <p:grpSp>
          <p:nvGrpSpPr>
            <p:cNvPr id="10" name="Group 10"/>
            <p:cNvGrpSpPr/>
            <p:nvPr/>
          </p:nvGrpSpPr>
          <p:grpSpPr>
            <a:xfrm>
              <a:off x="203200" y="226033"/>
              <a:ext cx="2431167" cy="243116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0" y="0"/>
              <a:ext cx="2876369" cy="4072735"/>
            </a:xfrm>
            <a:custGeom>
              <a:avLst/>
              <a:gdLst/>
              <a:ahLst/>
              <a:cxnLst/>
              <a:rect l="l" t="t" r="r" b="b"/>
              <a:pathLst>
                <a:path w="2876369" h="4072735">
                  <a:moveTo>
                    <a:pt x="0" y="0"/>
                  </a:moveTo>
                  <a:lnTo>
                    <a:pt x="2876369" y="0"/>
                  </a:lnTo>
                  <a:lnTo>
                    <a:pt x="2876369" y="4072735"/>
                  </a:lnTo>
                  <a:lnTo>
                    <a:pt x="0" y="407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543463" y="1646539"/>
            <a:ext cx="8155707" cy="1320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9627"/>
              </a:lnSpc>
              <a:spcBef>
                <a:spcPct val="0"/>
              </a:spcBef>
            </a:pPr>
            <a:r>
              <a:rPr lang="he-IL" sz="6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סיכום: מצוינות כדרך חיים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19082" y="3848150"/>
            <a:ext cx="5170543" cy="403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485"/>
              </a:lnSpc>
            </a:pPr>
            <a:r>
              <a:rPr lang="he-IL" sz="822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מצוינות היא</a:t>
            </a:r>
          </a:p>
          <a:p>
            <a:pPr algn="ctr" rtl="1">
              <a:lnSpc>
                <a:spcPts val="7485"/>
              </a:lnSpc>
            </a:pPr>
            <a:r>
              <a:rPr lang="he-IL" sz="822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לא פעולה</a:t>
            </a:r>
          </a:p>
          <a:p>
            <a:pPr algn="ctr" rtl="1">
              <a:lnSpc>
                <a:spcPts val="7485"/>
              </a:lnSpc>
            </a:pPr>
            <a:r>
              <a:rPr lang="he-IL" sz="822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חד פעמית,</a:t>
            </a:r>
          </a:p>
          <a:p>
            <a:pPr algn="ctr" rtl="1">
              <a:lnSpc>
                <a:spcPts val="7485"/>
              </a:lnSpc>
            </a:pPr>
            <a:r>
              <a:rPr lang="he-IL" sz="8226" b="1">
                <a:solidFill>
                  <a:srgbClr val="06306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אלא הרגל.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065186" y="3369256"/>
            <a:ext cx="1000604" cy="1030223"/>
          </a:xfrm>
          <a:custGeom>
            <a:avLst/>
            <a:gdLst/>
            <a:ahLst/>
            <a:cxnLst/>
            <a:rect l="l" t="t" r="r" b="b"/>
            <a:pathLst>
              <a:path w="1000604" h="1030223">
                <a:moveTo>
                  <a:pt x="0" y="0"/>
                </a:moveTo>
                <a:lnTo>
                  <a:pt x="1000603" y="0"/>
                </a:lnTo>
                <a:lnTo>
                  <a:pt x="1000603" y="1030223"/>
                </a:lnTo>
                <a:lnTo>
                  <a:pt x="0" y="103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7" name="Freeform 17"/>
          <p:cNvSpPr/>
          <p:nvPr/>
        </p:nvSpPr>
        <p:spPr>
          <a:xfrm>
            <a:off x="14065186" y="4852954"/>
            <a:ext cx="1000604" cy="1030223"/>
          </a:xfrm>
          <a:custGeom>
            <a:avLst/>
            <a:gdLst/>
            <a:ahLst/>
            <a:cxnLst/>
            <a:rect l="l" t="t" r="r" b="b"/>
            <a:pathLst>
              <a:path w="1000604" h="1030223">
                <a:moveTo>
                  <a:pt x="0" y="0"/>
                </a:moveTo>
                <a:lnTo>
                  <a:pt x="1000603" y="0"/>
                </a:lnTo>
                <a:lnTo>
                  <a:pt x="1000603" y="1030222"/>
                </a:lnTo>
                <a:lnTo>
                  <a:pt x="0" y="1030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8" name="TextBox 18"/>
          <p:cNvSpPr txBox="1"/>
          <p:nvPr/>
        </p:nvSpPr>
        <p:spPr>
          <a:xfrm>
            <a:off x="8565267" y="3152780"/>
            <a:ext cx="5180755" cy="130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763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תו התקן המחוזי הוא המצפן</a:t>
            </a:r>
          </a:p>
          <a:p>
            <a:pPr algn="just" rtl="1">
              <a:lnSpc>
                <a:spcPts val="2511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האסטרטגי של מחוז הצפון.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79269" y="4768764"/>
            <a:ext cx="5566753" cy="1114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910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המודל מאפשר שפה אחידה,</a:t>
            </a:r>
          </a:p>
          <a:p>
            <a:pPr algn="just" rtl="1">
              <a:lnSpc>
                <a:spcPts val="3910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מדידה מדויקת ושיפור מתמיד.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79268" y="6226076"/>
            <a:ext cx="5566753" cy="1514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ts val="3910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המטרה: יצירת מוסדות חינוך</a:t>
            </a:r>
          </a:p>
          <a:p>
            <a:pPr algn="just" rtl="1">
              <a:lnSpc>
                <a:spcPts val="3910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שהם עוגן של יציבות, חדשנות</a:t>
            </a:r>
          </a:p>
          <a:p>
            <a:pPr algn="just" rtl="1">
              <a:lnSpc>
                <a:spcPts val="3910"/>
              </a:lnSpc>
            </a:pPr>
            <a:r>
              <a:rPr lang="he-IL" sz="4116">
                <a:solidFill>
                  <a:srgbClr val="06306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והשראה.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065186" y="6420684"/>
            <a:ext cx="1000604" cy="1030223"/>
          </a:xfrm>
          <a:custGeom>
            <a:avLst/>
            <a:gdLst/>
            <a:ahLst/>
            <a:cxnLst/>
            <a:rect l="l" t="t" r="r" b="b"/>
            <a:pathLst>
              <a:path w="1000604" h="1030223">
                <a:moveTo>
                  <a:pt x="0" y="0"/>
                </a:moveTo>
                <a:lnTo>
                  <a:pt x="1000603" y="0"/>
                </a:lnTo>
                <a:lnTo>
                  <a:pt x="1000603" y="1030223"/>
                </a:lnTo>
                <a:lnTo>
                  <a:pt x="0" y="103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03044EC6-6909-3465-C2EC-DF4C8C2045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17" b="14420"/>
          <a:stretch>
            <a:fillRect/>
          </a:stretch>
        </p:blipFill>
        <p:spPr>
          <a:xfrm rot="5400000">
            <a:off x="2007067" y="-2007066"/>
            <a:ext cx="4284116" cy="8298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1151</Words>
  <Application>Microsoft Office PowerPoint</Application>
  <PresentationFormat>מותאם אישית</PresentationFormat>
  <Paragraphs>195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1" baseType="lpstr">
      <vt:lpstr>Calibri (MS)</vt:lpstr>
      <vt:lpstr>Calibri (MS) Bold</vt:lpstr>
      <vt:lpstr>Inter Bold</vt:lpstr>
      <vt:lpstr>Calibri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אות הצפון לאיכות ומצוינות ארגונית</dc:title>
  <dc:creator>Dganit</dc:creator>
  <cp:lastModifiedBy>דגנית קחלי כהן</cp:lastModifiedBy>
  <cp:revision>2</cp:revision>
  <dcterms:created xsi:type="dcterms:W3CDTF">2006-08-16T00:00:00Z</dcterms:created>
  <dcterms:modified xsi:type="dcterms:W3CDTF">2026-04-16T14:17:30Z</dcterms:modified>
  <dc:identifier>DAHE2bH3_A4</dc:identifier>
</cp:coreProperties>
</file>